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9144000" cx="16256000"/>
  <p:notesSz cx="9144000" cy="16256000"/>
  <p:embeddedFontLst>
    <p:embeddedFont>
      <p:font typeface="Liter"/>
      <p:regular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Liter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954762ab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e954762ab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e954762abf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PTIST_MASTER">
  <p:cSld name="PPTIST_MASTER"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rive.google.com/file/d/1SRIue838ogB03wtE6C4-xkBltUJ5uB3r/view" TargetMode="External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img.moonshot.cn/pub/slides/okc/2qgzlpigh4kku/mnt/agents/output/auto-diagnosis/images/2_Close_Up_of_Car_Engine_on_Dark_Background.png" id="17" name="Google Shape;17;p4"/>
          <p:cNvPicPr preferRelativeResize="0"/>
          <p:nvPr/>
        </p:nvPicPr>
        <p:blipFill rotWithShape="1">
          <a:blip r:embed="rId3">
            <a:alphaModFix/>
          </a:blip>
          <a:srcRect b="0" l="111" r="111" t="0"/>
          <a:stretch/>
        </p:blipFill>
        <p:spPr>
          <a:xfrm>
            <a:off x="0" y="0"/>
            <a:ext cx="16256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>
            <a:gsLst>
              <a:gs pos="0">
                <a:srgbClr val="0A0A0F">
                  <a:alpha val="20000"/>
                </a:srgbClr>
              </a:gs>
              <a:gs pos="40000">
                <a:srgbClr val="0A0A0F">
                  <a:alpha val="67058"/>
                </a:srgbClr>
              </a:gs>
              <a:gs pos="100000">
                <a:srgbClr val="0A0A0F"/>
              </a:gs>
            </a:gsLst>
            <a:lin ang="5400000" scaled="0"/>
          </a:gra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4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1778000" y="3302000"/>
            <a:ext cx="127000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00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AUTODIAGNOSIS-AI</a:t>
            </a:r>
            <a:endParaRPr b="0" i="0" sz="5200" u="none" cap="none" strike="noStrike"/>
          </a:p>
        </p:txBody>
      </p:sp>
      <p:sp>
        <p:nvSpPr>
          <p:cNvPr id="21" name="Google Shape;21;p4"/>
          <p:cNvSpPr/>
          <p:nvPr/>
        </p:nvSpPr>
        <p:spPr>
          <a:xfrm>
            <a:off x="6223000" y="4445000"/>
            <a:ext cx="3810000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/>
          <p:nvPr/>
        </p:nvSpPr>
        <p:spPr>
          <a:xfrm>
            <a:off x="2413000" y="4762500"/>
            <a:ext cx="11430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Sistema inteligente de detección de fallas automotrices</a:t>
            </a:r>
            <a:endParaRPr b="0" i="0" sz="2200" u="none" cap="none" strike="noStrike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por análisis de sonido con redes neuronales</a:t>
            </a:r>
            <a:endParaRPr b="0" i="0" sz="2200" u="none" cap="none" strike="noStrike"/>
          </a:p>
        </p:txBody>
      </p:sp>
      <p:sp>
        <p:nvSpPr>
          <p:cNvPr id="23" name="Google Shape;23;p4"/>
          <p:cNvSpPr/>
          <p:nvPr/>
        </p:nvSpPr>
        <p:spPr>
          <a:xfrm>
            <a:off x="4318000" y="76200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Liter"/>
                <a:ea typeface="Liter"/>
                <a:cs typeface="Liter"/>
                <a:sym typeface="Liter"/>
              </a:rPr>
              <a:t>ESCUCHA · ANALIZA · DETECTA</a:t>
            </a:r>
            <a:endParaRPr b="0" i="0" sz="1600" u="none" cap="none" strike="noStrike"/>
          </a:p>
        </p:txBody>
      </p:sp>
      <p:pic>
        <p:nvPicPr>
          <p:cNvPr descr="https://kimi-img.moonshot.cn/pub/slides/26-05-17-22:18:50-d84ssih36akc96n0sef0.png" id="24" name="Google Shape;2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929" y="50800"/>
            <a:ext cx="2088071" cy="20880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762000" y="2794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Liter"/>
                <a:ea typeface="Liter"/>
                <a:cs typeface="Liter"/>
                <a:sym typeface="Liter"/>
              </a:rPr>
              <a:t>EN-RUUMBIZA</a:t>
            </a:r>
            <a:endParaRPr b="0" i="0" sz="1600" u="none" cap="none" strike="noStrike"/>
          </a:p>
        </p:txBody>
      </p:sp>
      <p:sp>
        <p:nvSpPr>
          <p:cNvPr id="32" name="Google Shape;32;p5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Liter"/>
                <a:ea typeface="Liter"/>
                <a:cs typeface="Liter"/>
                <a:sym typeface="Liter"/>
              </a:rPr>
              <a:t>02</a:t>
            </a:r>
            <a:endParaRPr b="0" i="0" sz="1400" u="none" cap="none" strike="noStrike"/>
          </a:p>
        </p:txBody>
      </p:sp>
      <p:sp>
        <p:nvSpPr>
          <p:cNvPr id="33" name="Google Shape;33;p5"/>
          <p:cNvSpPr/>
          <p:nvPr/>
        </p:nvSpPr>
        <p:spPr>
          <a:xfrm>
            <a:off x="762000" y="1016000"/>
            <a:ext cx="635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0B981"/>
                </a:solidFill>
                <a:latin typeface="Liter"/>
                <a:ea typeface="Liter"/>
                <a:cs typeface="Liter"/>
                <a:sym typeface="Liter"/>
              </a:rPr>
              <a:t>EL PROBLEMA</a:t>
            </a:r>
            <a:endParaRPr b="0" i="0" sz="3200" u="none" cap="none" strike="noStrike"/>
          </a:p>
        </p:txBody>
      </p:sp>
      <p:sp>
        <p:nvSpPr>
          <p:cNvPr id="34" name="Google Shape;34;p5"/>
          <p:cNvSpPr/>
          <p:nvPr/>
        </p:nvSpPr>
        <p:spPr>
          <a:xfrm>
            <a:off x="762000" y="1651000"/>
            <a:ext cx="1016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5"/>
          <p:cNvSpPr/>
          <p:nvPr/>
        </p:nvSpPr>
        <p:spPr>
          <a:xfrm>
            <a:off x="733425" y="2159000"/>
            <a:ext cx="514350" cy="457200"/>
          </a:xfrm>
          <a:custGeom>
            <a:rect b="b" l="l" r="r" t="t"/>
            <a:pathLst>
              <a:path extrusionOk="0" h="457200" w="514350">
                <a:moveTo>
                  <a:pt x="454878" y="88047"/>
                </a:moveTo>
                <a:cubicBezTo>
                  <a:pt x="461665" y="81260"/>
                  <a:pt x="473006" y="82957"/>
                  <a:pt x="476399" y="91886"/>
                </a:cubicBezTo>
                <a:cubicBezTo>
                  <a:pt x="482471" y="107692"/>
                  <a:pt x="485775" y="124926"/>
                  <a:pt x="485775" y="142875"/>
                </a:cubicBezTo>
                <a:cubicBezTo>
                  <a:pt x="485775" y="221813"/>
                  <a:pt x="421838" y="285750"/>
                  <a:pt x="342900" y="285750"/>
                </a:cubicBezTo>
                <a:cubicBezTo>
                  <a:pt x="327273" y="285750"/>
                  <a:pt x="312182" y="283250"/>
                  <a:pt x="298073" y="278606"/>
                </a:cubicBezTo>
                <a:lnTo>
                  <a:pt x="131177" y="445502"/>
                </a:lnTo>
                <a:cubicBezTo>
                  <a:pt x="106085" y="470595"/>
                  <a:pt x="65365" y="470595"/>
                  <a:pt x="40273" y="445502"/>
                </a:cubicBezTo>
                <a:cubicBezTo>
                  <a:pt x="15180" y="420410"/>
                  <a:pt x="15180" y="379690"/>
                  <a:pt x="40273" y="354598"/>
                </a:cubicBezTo>
                <a:lnTo>
                  <a:pt x="207169" y="187702"/>
                </a:lnTo>
                <a:cubicBezTo>
                  <a:pt x="202525" y="173593"/>
                  <a:pt x="200025" y="158591"/>
                  <a:pt x="200025" y="142875"/>
                </a:cubicBezTo>
                <a:cubicBezTo>
                  <a:pt x="200025" y="63937"/>
                  <a:pt x="263962" y="0"/>
                  <a:pt x="342900" y="0"/>
                </a:cubicBezTo>
                <a:cubicBezTo>
                  <a:pt x="360849" y="0"/>
                  <a:pt x="378083" y="3304"/>
                  <a:pt x="393889" y="9376"/>
                </a:cubicBezTo>
                <a:cubicBezTo>
                  <a:pt x="402818" y="12769"/>
                  <a:pt x="404426" y="24110"/>
                  <a:pt x="397728" y="30897"/>
                </a:cubicBezTo>
                <a:lnTo>
                  <a:pt x="318522" y="110103"/>
                </a:lnTo>
                <a:cubicBezTo>
                  <a:pt x="315843" y="112782"/>
                  <a:pt x="314325" y="116443"/>
                  <a:pt x="314325" y="120194"/>
                </a:cubicBezTo>
                <a:lnTo>
                  <a:pt x="314325" y="157163"/>
                </a:lnTo>
                <a:cubicBezTo>
                  <a:pt x="314325" y="165021"/>
                  <a:pt x="320754" y="171450"/>
                  <a:pt x="328613" y="171450"/>
                </a:cubicBezTo>
                <a:lnTo>
                  <a:pt x="365581" y="171450"/>
                </a:lnTo>
                <a:cubicBezTo>
                  <a:pt x="369332" y="171450"/>
                  <a:pt x="372993" y="169932"/>
                  <a:pt x="375672" y="167253"/>
                </a:cubicBezTo>
                <a:lnTo>
                  <a:pt x="454878" y="88047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1422400" y="2159000"/>
            <a:ext cx="635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Herramientas Costosas</a:t>
            </a:r>
            <a:endParaRPr b="0" i="0" sz="2400" u="none" cap="none" strike="noStrike"/>
          </a:p>
        </p:txBody>
      </p:sp>
      <p:sp>
        <p:nvSpPr>
          <p:cNvPr id="37" name="Google Shape;37;p5"/>
          <p:cNvSpPr/>
          <p:nvPr/>
        </p:nvSpPr>
        <p:spPr>
          <a:xfrm>
            <a:off x="1422400" y="2717800"/>
            <a:ext cx="6350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El diagnóstico tradicional requiere scanners OBD-II y conocimiento técnico especializado, inaccesibles para la mayoría.</a:t>
            </a:r>
            <a:endParaRPr b="0" i="0" sz="2000" u="none" cap="none" strike="noStrike"/>
          </a:p>
        </p:txBody>
      </p:sp>
      <p:sp>
        <p:nvSpPr>
          <p:cNvPr id="38" name="Google Shape;38;p5"/>
          <p:cNvSpPr/>
          <p:nvPr/>
        </p:nvSpPr>
        <p:spPr>
          <a:xfrm>
            <a:off x="762000" y="4445000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cubicBezTo>
                  <a:pt x="241727" y="0"/>
                  <a:pt x="253782" y="7233"/>
                  <a:pt x="260033" y="18752"/>
                </a:cubicBezTo>
                <a:lnTo>
                  <a:pt x="452914" y="375940"/>
                </a:lnTo>
                <a:cubicBezTo>
                  <a:pt x="458897" y="387013"/>
                  <a:pt x="458629" y="400407"/>
                  <a:pt x="452199" y="411212"/>
                </a:cubicBezTo>
                <a:cubicBezTo>
                  <a:pt x="445770" y="422017"/>
                  <a:pt x="434072" y="428625"/>
                  <a:pt x="421481" y="428625"/>
                </a:cubicBezTo>
                <a:lnTo>
                  <a:pt x="35719" y="428625"/>
                </a:lnTo>
                <a:cubicBezTo>
                  <a:pt x="23128" y="428625"/>
                  <a:pt x="11519" y="422017"/>
                  <a:pt x="5001" y="411212"/>
                </a:cubicBezTo>
                <a:cubicBezTo>
                  <a:pt x="-1518" y="400407"/>
                  <a:pt x="-1697" y="387013"/>
                  <a:pt x="4286" y="375940"/>
                </a:cubicBezTo>
                <a:lnTo>
                  <a:pt x="197168" y="18752"/>
                </a:lnTo>
                <a:cubicBezTo>
                  <a:pt x="203418" y="7233"/>
                  <a:pt x="215473" y="0"/>
                  <a:pt x="228600" y="0"/>
                </a:cubicBezTo>
                <a:close/>
                <a:moveTo>
                  <a:pt x="228600" y="150019"/>
                </a:moveTo>
                <a:cubicBezTo>
                  <a:pt x="216724" y="150019"/>
                  <a:pt x="207169" y="159574"/>
                  <a:pt x="207169" y="171450"/>
                </a:cubicBezTo>
                <a:lnTo>
                  <a:pt x="207169" y="271463"/>
                </a:lnTo>
                <a:cubicBezTo>
                  <a:pt x="207169" y="283339"/>
                  <a:pt x="216724" y="292894"/>
                  <a:pt x="228600" y="292894"/>
                </a:cubicBezTo>
                <a:cubicBezTo>
                  <a:pt x="240476" y="292894"/>
                  <a:pt x="250031" y="283339"/>
                  <a:pt x="250031" y="271463"/>
                </a:cubicBezTo>
                <a:lnTo>
                  <a:pt x="250031" y="171450"/>
                </a:lnTo>
                <a:cubicBezTo>
                  <a:pt x="250031" y="159574"/>
                  <a:pt x="240476" y="150019"/>
                  <a:pt x="228600" y="150019"/>
                </a:cubicBezTo>
                <a:close/>
                <a:moveTo>
                  <a:pt x="252442" y="342900"/>
                </a:moveTo>
                <a:cubicBezTo>
                  <a:pt x="252985" y="334050"/>
                  <a:pt x="248571" y="325630"/>
                  <a:pt x="240985" y="321041"/>
                </a:cubicBezTo>
                <a:cubicBezTo>
                  <a:pt x="233398" y="316452"/>
                  <a:pt x="223891" y="316452"/>
                  <a:pt x="216305" y="321041"/>
                </a:cubicBezTo>
                <a:cubicBezTo>
                  <a:pt x="208718" y="325630"/>
                  <a:pt x="204305" y="334050"/>
                  <a:pt x="204847" y="342900"/>
                </a:cubicBezTo>
                <a:cubicBezTo>
                  <a:pt x="204305" y="351750"/>
                  <a:pt x="208718" y="360170"/>
                  <a:pt x="216305" y="364759"/>
                </a:cubicBezTo>
                <a:cubicBezTo>
                  <a:pt x="223891" y="369348"/>
                  <a:pt x="233398" y="369348"/>
                  <a:pt x="240985" y="364759"/>
                </a:cubicBezTo>
                <a:cubicBezTo>
                  <a:pt x="248571" y="360170"/>
                  <a:pt x="252985" y="351750"/>
                  <a:pt x="252442" y="342900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1422400" y="4445000"/>
            <a:ext cx="635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Detección Tardía</a:t>
            </a:r>
            <a:endParaRPr b="0" i="0" sz="2400" u="none" cap="none" strike="noStrike"/>
          </a:p>
        </p:txBody>
      </p:sp>
      <p:sp>
        <p:nvSpPr>
          <p:cNvPr id="40" name="Google Shape;40;p5"/>
          <p:cNvSpPr/>
          <p:nvPr/>
        </p:nvSpPr>
        <p:spPr>
          <a:xfrm>
            <a:off x="1422400" y="5003800"/>
            <a:ext cx="6350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Los conductores no detectan fallas a tiempo, causando daños mayores y reparaciones costosas que se podrían evitar.</a:t>
            </a:r>
            <a:endParaRPr b="0" i="0" sz="2000" u="none" cap="none" strike="noStrike"/>
          </a:p>
        </p:txBody>
      </p:sp>
      <p:sp>
        <p:nvSpPr>
          <p:cNvPr id="41" name="Google Shape;41;p5"/>
          <p:cNvSpPr/>
          <p:nvPr/>
        </p:nvSpPr>
        <p:spPr>
          <a:xfrm>
            <a:off x="762000" y="6731000"/>
            <a:ext cx="457200" cy="457200"/>
          </a:xfrm>
          <a:custGeom>
            <a:rect b="b" l="l" r="r" t="t"/>
            <a:pathLst>
              <a:path extrusionOk="0" h="457200" w="457200">
                <a:moveTo>
                  <a:pt x="327898" y="368350"/>
                </a:moveTo>
                <a:lnTo>
                  <a:pt x="88850" y="129302"/>
                </a:lnTo>
                <a:cubicBezTo>
                  <a:pt x="68848" y="157341"/>
                  <a:pt x="57150" y="191631"/>
                  <a:pt x="57150" y="228600"/>
                </a:cubicBezTo>
                <a:cubicBezTo>
                  <a:pt x="57150" y="323255"/>
                  <a:pt x="133945" y="400050"/>
                  <a:pt x="228600" y="400050"/>
                </a:cubicBezTo>
                <a:cubicBezTo>
                  <a:pt x="265658" y="400050"/>
                  <a:pt x="299948" y="388352"/>
                  <a:pt x="327898" y="368350"/>
                </a:cubicBezTo>
                <a:close/>
                <a:moveTo>
                  <a:pt x="368350" y="327898"/>
                </a:moveTo>
                <a:cubicBezTo>
                  <a:pt x="388352" y="299859"/>
                  <a:pt x="400050" y="265569"/>
                  <a:pt x="400050" y="228600"/>
                </a:cubicBezTo>
                <a:cubicBezTo>
                  <a:pt x="400050" y="133945"/>
                  <a:pt x="323255" y="57150"/>
                  <a:pt x="228600" y="57150"/>
                </a:cubicBezTo>
                <a:cubicBezTo>
                  <a:pt x="191542" y="57150"/>
                  <a:pt x="157252" y="68848"/>
                  <a:pt x="129302" y="88850"/>
                </a:cubicBezTo>
                <a:lnTo>
                  <a:pt x="368350" y="327898"/>
                </a:lnTo>
                <a:close/>
                <a:moveTo>
                  <a:pt x="0" y="228600"/>
                </a:moveTo>
                <a:cubicBezTo>
                  <a:pt x="0" y="102432"/>
                  <a:pt x="102432" y="0"/>
                  <a:pt x="228600" y="0"/>
                </a:cubicBez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lose/>
              </a:path>
            </a:pathLst>
          </a:cu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1422400" y="6731000"/>
            <a:ext cx="635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Sin Solución Accesible</a:t>
            </a:r>
            <a:endParaRPr b="0" i="0" sz="2400" u="none" cap="none" strike="noStrike"/>
          </a:p>
        </p:txBody>
      </p:sp>
      <p:sp>
        <p:nvSpPr>
          <p:cNvPr id="43" name="Google Shape;43;p5"/>
          <p:cNvSpPr/>
          <p:nvPr/>
        </p:nvSpPr>
        <p:spPr>
          <a:xfrm>
            <a:off x="1422400" y="7289800"/>
            <a:ext cx="635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Falta una alternativa de software accesible para detectar problemas del motor de forma temprana.</a:t>
            </a:r>
            <a:endParaRPr b="0" i="0" sz="2000" u="none" cap="none" strike="noStrike"/>
          </a:p>
        </p:txBody>
      </p:sp>
      <p:sp>
        <p:nvSpPr>
          <p:cNvPr id="44" name="Google Shape;44;p5"/>
          <p:cNvSpPr/>
          <p:nvPr/>
        </p:nvSpPr>
        <p:spPr>
          <a:xfrm>
            <a:off x="8636000" y="2032000"/>
            <a:ext cx="6858000" cy="55880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/>
          <p:cNvSpPr/>
          <p:nvPr/>
        </p:nvSpPr>
        <p:spPr>
          <a:xfrm>
            <a:off x="9144000" y="2540000"/>
            <a:ext cx="58420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00" u="none" cap="none" strike="noStrike">
                <a:solidFill>
                  <a:srgbClr val="10B981"/>
                </a:solidFill>
                <a:latin typeface="Liter"/>
                <a:ea typeface="Liter"/>
                <a:cs typeface="Liter"/>
                <a:sym typeface="Liter"/>
              </a:rPr>
              <a:t>$75B</a:t>
            </a:r>
            <a:endParaRPr b="0" i="0" sz="5200" u="none" cap="none" strike="noStrike"/>
          </a:p>
        </p:txBody>
      </p:sp>
      <p:sp>
        <p:nvSpPr>
          <p:cNvPr id="46" name="Google Shape;46;p5"/>
          <p:cNvSpPr/>
          <p:nvPr/>
        </p:nvSpPr>
        <p:spPr>
          <a:xfrm>
            <a:off x="9144000" y="3492500"/>
            <a:ext cx="584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Liter"/>
                <a:ea typeface="Liter"/>
                <a:cs typeface="Liter"/>
                <a:sym typeface="Liter"/>
              </a:rPr>
              <a:t>mercado global de reparación automotriz</a:t>
            </a:r>
            <a:endParaRPr b="0" i="0" sz="1400" u="none" cap="none" strike="noStrike"/>
          </a:p>
        </p:txBody>
      </p:sp>
      <p:sp>
        <p:nvSpPr>
          <p:cNvPr id="47" name="Google Shape;47;p5"/>
          <p:cNvSpPr/>
          <p:nvPr/>
        </p:nvSpPr>
        <p:spPr>
          <a:xfrm>
            <a:off x="9906000" y="4127500"/>
            <a:ext cx="4318000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9144000" y="4445000"/>
            <a:ext cx="5842000" cy="2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Gran parte de estos costos provienen de reparaciones que se podrían haber evitado con una detección temprana de fallas.</a:t>
            </a:r>
            <a:endParaRPr b="0" i="0" sz="2000" u="none" cap="none" strike="noStrike"/>
          </a:p>
          <a:p>
            <a:pPr indent="0" lvl="0" marL="0" marR="0" rtl="0" algn="ctr">
              <a:lnSpc>
                <a:spcPct val="16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9E0B"/>
                </a:solidFill>
                <a:latin typeface="Liter"/>
                <a:ea typeface="Liter"/>
                <a:cs typeface="Liter"/>
                <a:sym typeface="Liter"/>
              </a:rPr>
              <a:t>Necesitamos una solución accesible y preventiva.</a:t>
            </a:r>
            <a:endParaRPr b="0" i="0" sz="2000" u="none" cap="none" strike="noStrike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6"/>
          <p:cNvSpPr/>
          <p:nvPr/>
        </p:nvSpPr>
        <p:spPr>
          <a:xfrm>
            <a:off x="762000" y="2794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Liter"/>
                <a:ea typeface="Liter"/>
                <a:cs typeface="Liter"/>
                <a:sym typeface="Liter"/>
              </a:rPr>
              <a:t>EN-RUUMBIZA</a:t>
            </a:r>
            <a:endParaRPr b="0" i="0" sz="1600" u="none" cap="none" strike="noStrike"/>
          </a:p>
        </p:txBody>
      </p:sp>
      <p:sp>
        <p:nvSpPr>
          <p:cNvPr id="56" name="Google Shape;56;p6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Liter"/>
                <a:ea typeface="Liter"/>
                <a:cs typeface="Liter"/>
                <a:sym typeface="Liter"/>
              </a:rPr>
              <a:t>03</a:t>
            </a:r>
            <a:endParaRPr b="0" i="0" sz="1400" u="none" cap="none" strike="noStrike"/>
          </a:p>
        </p:txBody>
      </p:sp>
      <p:sp>
        <p:nvSpPr>
          <p:cNvPr id="57" name="Google Shape;57;p6"/>
          <p:cNvSpPr/>
          <p:nvPr/>
        </p:nvSpPr>
        <p:spPr>
          <a:xfrm>
            <a:off x="762000" y="1016000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0B981"/>
                </a:solidFill>
                <a:latin typeface="Liter"/>
                <a:ea typeface="Liter"/>
                <a:cs typeface="Liter"/>
                <a:sym typeface="Liter"/>
              </a:rPr>
              <a:t>NUESTRA SOLUCIÓN</a:t>
            </a:r>
            <a:endParaRPr b="0" i="0" sz="3200" u="none" cap="none" strike="noStrike"/>
          </a:p>
        </p:txBody>
      </p:sp>
      <p:sp>
        <p:nvSpPr>
          <p:cNvPr id="58" name="Google Shape;58;p6"/>
          <p:cNvSpPr/>
          <p:nvPr/>
        </p:nvSpPr>
        <p:spPr>
          <a:xfrm>
            <a:off x="762000" y="1651000"/>
            <a:ext cx="1016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6"/>
          <p:cNvSpPr/>
          <p:nvPr/>
        </p:nvSpPr>
        <p:spPr>
          <a:xfrm>
            <a:off x="762000" y="2159000"/>
            <a:ext cx="4699000" cy="29210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6"/>
          <p:cNvSpPr/>
          <p:nvPr/>
        </p:nvSpPr>
        <p:spPr>
          <a:xfrm>
            <a:off x="1079500" y="2476500"/>
            <a:ext cx="508000" cy="508000"/>
          </a:xfrm>
          <a:custGeom>
            <a:rect b="b" l="l" r="r" t="t"/>
            <a:pathLst>
              <a:path extrusionOk="0" h="508000" w="508000">
                <a:moveTo>
                  <a:pt x="119063" y="55563"/>
                </a:moveTo>
                <a:cubicBezTo>
                  <a:pt x="119063" y="24904"/>
                  <a:pt x="143966" y="0"/>
                  <a:pt x="174625" y="0"/>
                </a:cubicBezTo>
                <a:lnTo>
                  <a:pt x="198438" y="0"/>
                </a:lnTo>
                <a:cubicBezTo>
                  <a:pt x="215999" y="0"/>
                  <a:pt x="230188" y="14188"/>
                  <a:pt x="230188" y="31750"/>
                </a:cubicBezTo>
                <a:lnTo>
                  <a:pt x="230188" y="476250"/>
                </a:lnTo>
                <a:cubicBezTo>
                  <a:pt x="230188" y="493812"/>
                  <a:pt x="215999" y="508000"/>
                  <a:pt x="198438" y="508000"/>
                </a:cubicBezTo>
                <a:lnTo>
                  <a:pt x="166688" y="508000"/>
                </a:lnTo>
                <a:cubicBezTo>
                  <a:pt x="137120" y="508000"/>
                  <a:pt x="112216" y="487759"/>
                  <a:pt x="105172" y="460375"/>
                </a:cubicBezTo>
                <a:cubicBezTo>
                  <a:pt x="104477" y="460375"/>
                  <a:pt x="103882" y="460375"/>
                  <a:pt x="103188" y="460375"/>
                </a:cubicBezTo>
                <a:cubicBezTo>
                  <a:pt x="59333" y="460375"/>
                  <a:pt x="23812" y="424855"/>
                  <a:pt x="23812" y="381000"/>
                </a:cubicBezTo>
                <a:cubicBezTo>
                  <a:pt x="23812" y="363141"/>
                  <a:pt x="29766" y="346670"/>
                  <a:pt x="39688" y="333375"/>
                </a:cubicBezTo>
                <a:cubicBezTo>
                  <a:pt x="20439" y="318889"/>
                  <a:pt x="7938" y="295870"/>
                  <a:pt x="7938" y="269875"/>
                </a:cubicBezTo>
                <a:cubicBezTo>
                  <a:pt x="7938" y="239216"/>
                  <a:pt x="25400" y="212527"/>
                  <a:pt x="50800" y="199330"/>
                </a:cubicBezTo>
                <a:cubicBezTo>
                  <a:pt x="43755" y="187424"/>
                  <a:pt x="39688" y="173534"/>
                  <a:pt x="39688" y="158750"/>
                </a:cubicBezTo>
                <a:cubicBezTo>
                  <a:pt x="39688" y="114895"/>
                  <a:pt x="75208" y="79375"/>
                  <a:pt x="119063" y="79375"/>
                </a:cubicBezTo>
                <a:lnTo>
                  <a:pt x="119063" y="55563"/>
                </a:lnTo>
                <a:close/>
                <a:moveTo>
                  <a:pt x="388938" y="55563"/>
                </a:moveTo>
                <a:lnTo>
                  <a:pt x="388938" y="79375"/>
                </a:lnTo>
                <a:cubicBezTo>
                  <a:pt x="432792" y="79375"/>
                  <a:pt x="468313" y="114895"/>
                  <a:pt x="468313" y="158750"/>
                </a:cubicBezTo>
                <a:cubicBezTo>
                  <a:pt x="468313" y="173633"/>
                  <a:pt x="464245" y="187523"/>
                  <a:pt x="457200" y="199330"/>
                </a:cubicBezTo>
                <a:cubicBezTo>
                  <a:pt x="482699" y="212527"/>
                  <a:pt x="500063" y="239117"/>
                  <a:pt x="500063" y="269875"/>
                </a:cubicBezTo>
                <a:cubicBezTo>
                  <a:pt x="500063" y="295870"/>
                  <a:pt x="487561" y="318889"/>
                  <a:pt x="468313" y="333375"/>
                </a:cubicBezTo>
                <a:cubicBezTo>
                  <a:pt x="478234" y="346670"/>
                  <a:pt x="484187" y="363141"/>
                  <a:pt x="484187" y="381000"/>
                </a:cubicBezTo>
                <a:cubicBezTo>
                  <a:pt x="484187" y="424855"/>
                  <a:pt x="448667" y="460375"/>
                  <a:pt x="404813" y="460375"/>
                </a:cubicBezTo>
                <a:cubicBezTo>
                  <a:pt x="404118" y="460375"/>
                  <a:pt x="403523" y="460375"/>
                  <a:pt x="402828" y="460375"/>
                </a:cubicBezTo>
                <a:cubicBezTo>
                  <a:pt x="395784" y="487759"/>
                  <a:pt x="370880" y="508000"/>
                  <a:pt x="341313" y="508000"/>
                </a:cubicBezTo>
                <a:lnTo>
                  <a:pt x="309562" y="508000"/>
                </a:lnTo>
                <a:cubicBezTo>
                  <a:pt x="292001" y="508000"/>
                  <a:pt x="277813" y="493812"/>
                  <a:pt x="277813" y="476250"/>
                </a:cubicBezTo>
                <a:lnTo>
                  <a:pt x="277813" y="31750"/>
                </a:lnTo>
                <a:cubicBezTo>
                  <a:pt x="277813" y="14188"/>
                  <a:pt x="292001" y="0"/>
                  <a:pt x="309562" y="0"/>
                </a:cubicBezTo>
                <a:lnTo>
                  <a:pt x="333375" y="0"/>
                </a:lnTo>
                <a:cubicBezTo>
                  <a:pt x="364034" y="0"/>
                  <a:pt x="388938" y="24904"/>
                  <a:pt x="388938" y="55563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6"/>
          <p:cNvSpPr/>
          <p:nvPr/>
        </p:nvSpPr>
        <p:spPr>
          <a:xfrm>
            <a:off x="1079500" y="3175000"/>
            <a:ext cx="4064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Red Neuronal CNN</a:t>
            </a:r>
            <a:endParaRPr b="0" i="0" sz="2400" u="none" cap="none" strike="noStrike"/>
          </a:p>
        </p:txBody>
      </p:sp>
      <p:sp>
        <p:nvSpPr>
          <p:cNvPr id="62" name="Google Shape;62;p6"/>
          <p:cNvSpPr/>
          <p:nvPr/>
        </p:nvSpPr>
        <p:spPr>
          <a:xfrm>
            <a:off x="1079500" y="3657600"/>
            <a:ext cx="406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Clasifica 9 tipos de sonidos automotrices con alta precisión mediante espectrogramas y deep learning.</a:t>
            </a:r>
            <a:endParaRPr b="0" i="0" sz="1600" u="none" cap="none" strike="noStrike"/>
          </a:p>
        </p:txBody>
      </p:sp>
      <p:sp>
        <p:nvSpPr>
          <p:cNvPr id="63" name="Google Shape;63;p6"/>
          <p:cNvSpPr/>
          <p:nvPr/>
        </p:nvSpPr>
        <p:spPr>
          <a:xfrm>
            <a:off x="5778500" y="2159000"/>
            <a:ext cx="4699000" cy="29210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6"/>
          <p:cNvSpPr/>
          <p:nvPr/>
        </p:nvSpPr>
        <p:spPr>
          <a:xfrm>
            <a:off x="6064250" y="2476500"/>
            <a:ext cx="571500" cy="508000"/>
          </a:xfrm>
          <a:custGeom>
            <a:rect b="b" l="l" r="r" t="t"/>
            <a:pathLst>
              <a:path extrusionOk="0" h="508000" w="571500">
                <a:moveTo>
                  <a:pt x="87213" y="11410"/>
                </a:moveTo>
                <a:cubicBezTo>
                  <a:pt x="76002" y="4564"/>
                  <a:pt x="61317" y="8235"/>
                  <a:pt x="54471" y="19447"/>
                </a:cubicBezTo>
                <a:cubicBezTo>
                  <a:pt x="29865" y="60127"/>
                  <a:pt x="15776" y="107851"/>
                  <a:pt x="15776" y="158750"/>
                </a:cubicBezTo>
                <a:cubicBezTo>
                  <a:pt x="15776" y="209649"/>
                  <a:pt x="29865" y="257373"/>
                  <a:pt x="54471" y="298053"/>
                </a:cubicBezTo>
                <a:cubicBezTo>
                  <a:pt x="61317" y="309265"/>
                  <a:pt x="75902" y="312936"/>
                  <a:pt x="87213" y="306090"/>
                </a:cubicBezTo>
                <a:cubicBezTo>
                  <a:pt x="98524" y="299244"/>
                  <a:pt x="102096" y="284659"/>
                  <a:pt x="95250" y="273348"/>
                </a:cubicBezTo>
                <a:cubicBezTo>
                  <a:pt x="75109" y="240010"/>
                  <a:pt x="63500" y="200720"/>
                  <a:pt x="63500" y="158750"/>
                </a:cubicBezTo>
                <a:cubicBezTo>
                  <a:pt x="63500" y="116780"/>
                  <a:pt x="75109" y="77490"/>
                  <a:pt x="95349" y="44053"/>
                </a:cubicBezTo>
                <a:cubicBezTo>
                  <a:pt x="102195" y="32841"/>
                  <a:pt x="98524" y="18157"/>
                  <a:pt x="87313" y="11311"/>
                </a:cubicBezTo>
                <a:close/>
                <a:moveTo>
                  <a:pt x="484187" y="11410"/>
                </a:moveTo>
                <a:cubicBezTo>
                  <a:pt x="472976" y="18256"/>
                  <a:pt x="469305" y="32841"/>
                  <a:pt x="476151" y="44152"/>
                </a:cubicBezTo>
                <a:cubicBezTo>
                  <a:pt x="496391" y="77589"/>
                  <a:pt x="508000" y="116880"/>
                  <a:pt x="508000" y="158849"/>
                </a:cubicBezTo>
                <a:cubicBezTo>
                  <a:pt x="508000" y="200819"/>
                  <a:pt x="496391" y="240109"/>
                  <a:pt x="476151" y="273546"/>
                </a:cubicBezTo>
                <a:cubicBezTo>
                  <a:pt x="469305" y="284758"/>
                  <a:pt x="472976" y="299442"/>
                  <a:pt x="484187" y="306288"/>
                </a:cubicBezTo>
                <a:cubicBezTo>
                  <a:pt x="495399" y="313134"/>
                  <a:pt x="510084" y="309463"/>
                  <a:pt x="516930" y="298252"/>
                </a:cubicBezTo>
                <a:cubicBezTo>
                  <a:pt x="541536" y="257572"/>
                  <a:pt x="555625" y="209848"/>
                  <a:pt x="555625" y="158948"/>
                </a:cubicBezTo>
                <a:cubicBezTo>
                  <a:pt x="555625" y="108049"/>
                  <a:pt x="541536" y="60127"/>
                  <a:pt x="516930" y="19447"/>
                </a:cubicBezTo>
                <a:cubicBezTo>
                  <a:pt x="510084" y="8235"/>
                  <a:pt x="495498" y="4564"/>
                  <a:pt x="484187" y="11410"/>
                </a:cubicBezTo>
                <a:close/>
                <a:moveTo>
                  <a:pt x="317500" y="213717"/>
                </a:moveTo>
                <a:cubicBezTo>
                  <a:pt x="336451" y="202704"/>
                  <a:pt x="349250" y="182265"/>
                  <a:pt x="349250" y="158750"/>
                </a:cubicBezTo>
                <a:cubicBezTo>
                  <a:pt x="349250" y="123726"/>
                  <a:pt x="320774" y="95250"/>
                  <a:pt x="285750" y="95250"/>
                </a:cubicBezTo>
                <a:cubicBezTo>
                  <a:pt x="250726" y="95250"/>
                  <a:pt x="222250" y="123726"/>
                  <a:pt x="222250" y="158750"/>
                </a:cubicBezTo>
                <a:cubicBezTo>
                  <a:pt x="222250" y="182265"/>
                  <a:pt x="235049" y="202803"/>
                  <a:pt x="254000" y="213717"/>
                </a:cubicBezTo>
                <a:lnTo>
                  <a:pt x="254000" y="476250"/>
                </a:lnTo>
                <a:cubicBezTo>
                  <a:pt x="254000" y="493812"/>
                  <a:pt x="268188" y="508000"/>
                  <a:pt x="285750" y="508000"/>
                </a:cubicBezTo>
                <a:cubicBezTo>
                  <a:pt x="303312" y="508000"/>
                  <a:pt x="317500" y="493812"/>
                  <a:pt x="317500" y="476250"/>
                </a:cubicBezTo>
                <a:lnTo>
                  <a:pt x="317500" y="213717"/>
                </a:lnTo>
                <a:close/>
                <a:moveTo>
                  <a:pt x="178792" y="90289"/>
                </a:moveTo>
                <a:cubicBezTo>
                  <a:pt x="185936" y="79177"/>
                  <a:pt x="182662" y="64492"/>
                  <a:pt x="171648" y="57348"/>
                </a:cubicBezTo>
                <a:cubicBezTo>
                  <a:pt x="160635" y="50205"/>
                  <a:pt x="145852" y="53479"/>
                  <a:pt x="138708" y="64492"/>
                </a:cubicBezTo>
                <a:cubicBezTo>
                  <a:pt x="121245" y="91678"/>
                  <a:pt x="111125" y="124023"/>
                  <a:pt x="111125" y="158750"/>
                </a:cubicBezTo>
                <a:cubicBezTo>
                  <a:pt x="111125" y="193477"/>
                  <a:pt x="121245" y="225822"/>
                  <a:pt x="138708" y="253008"/>
                </a:cubicBezTo>
                <a:cubicBezTo>
                  <a:pt x="145852" y="264120"/>
                  <a:pt x="160536" y="267295"/>
                  <a:pt x="171648" y="260152"/>
                </a:cubicBezTo>
                <a:cubicBezTo>
                  <a:pt x="182761" y="253008"/>
                  <a:pt x="185936" y="238323"/>
                  <a:pt x="178792" y="227211"/>
                </a:cubicBezTo>
                <a:cubicBezTo>
                  <a:pt x="166092" y="207466"/>
                  <a:pt x="158750" y="183952"/>
                  <a:pt x="158750" y="158750"/>
                </a:cubicBezTo>
                <a:cubicBezTo>
                  <a:pt x="158750" y="133548"/>
                  <a:pt x="166092" y="110034"/>
                  <a:pt x="178792" y="90289"/>
                </a:cubicBezTo>
                <a:close/>
                <a:moveTo>
                  <a:pt x="432792" y="64492"/>
                </a:moveTo>
                <a:cubicBezTo>
                  <a:pt x="425648" y="53380"/>
                  <a:pt x="410964" y="50205"/>
                  <a:pt x="399852" y="57348"/>
                </a:cubicBezTo>
                <a:cubicBezTo>
                  <a:pt x="388739" y="64492"/>
                  <a:pt x="385564" y="79177"/>
                  <a:pt x="392708" y="90289"/>
                </a:cubicBezTo>
                <a:cubicBezTo>
                  <a:pt x="405408" y="110034"/>
                  <a:pt x="412750" y="133548"/>
                  <a:pt x="412750" y="158750"/>
                </a:cubicBezTo>
                <a:cubicBezTo>
                  <a:pt x="412750" y="183952"/>
                  <a:pt x="405408" y="207466"/>
                  <a:pt x="392708" y="227211"/>
                </a:cubicBezTo>
                <a:cubicBezTo>
                  <a:pt x="385564" y="238323"/>
                  <a:pt x="388838" y="253008"/>
                  <a:pt x="399852" y="260152"/>
                </a:cubicBezTo>
                <a:cubicBezTo>
                  <a:pt x="410865" y="267295"/>
                  <a:pt x="425648" y="264021"/>
                  <a:pt x="432792" y="253008"/>
                </a:cubicBezTo>
                <a:cubicBezTo>
                  <a:pt x="450255" y="225822"/>
                  <a:pt x="460375" y="193477"/>
                  <a:pt x="460375" y="158750"/>
                </a:cubicBezTo>
                <a:cubicBezTo>
                  <a:pt x="460375" y="124023"/>
                  <a:pt x="450255" y="91678"/>
                  <a:pt x="432792" y="64492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6"/>
          <p:cNvSpPr/>
          <p:nvPr/>
        </p:nvSpPr>
        <p:spPr>
          <a:xfrm>
            <a:off x="6096000" y="3175000"/>
            <a:ext cx="4064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Tiempo Real vía WebSocket</a:t>
            </a:r>
            <a:endParaRPr b="0" i="0" sz="2400" u="none" cap="none" strike="noStrike"/>
          </a:p>
        </p:txBody>
      </p:sp>
      <p:sp>
        <p:nvSpPr>
          <p:cNvPr id="66" name="Google Shape;66;p6"/>
          <p:cNvSpPr/>
          <p:nvPr/>
        </p:nvSpPr>
        <p:spPr>
          <a:xfrm>
            <a:off x="6096000" y="3657600"/>
            <a:ext cx="406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Sistema distribuido: una computadora procesa el audio y envía predicciones a la interfaz en tiempo real.</a:t>
            </a:r>
            <a:endParaRPr b="0" i="0" sz="1600" u="none" cap="none" strike="noStrike"/>
          </a:p>
        </p:txBody>
      </p:sp>
      <p:sp>
        <p:nvSpPr>
          <p:cNvPr id="67" name="Google Shape;67;p6"/>
          <p:cNvSpPr/>
          <p:nvPr/>
        </p:nvSpPr>
        <p:spPr>
          <a:xfrm>
            <a:off x="10795000" y="2159000"/>
            <a:ext cx="4699000" cy="29210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/>
          <p:nvPr/>
        </p:nvSpPr>
        <p:spPr>
          <a:xfrm>
            <a:off x="11176000" y="2476500"/>
            <a:ext cx="381000" cy="508000"/>
          </a:xfrm>
          <a:custGeom>
            <a:rect b="b" l="l" r="r" t="t"/>
            <a:pathLst>
              <a:path extrusionOk="0" h="508000" w="381000">
                <a:moveTo>
                  <a:pt x="15875" y="63500"/>
                </a:moveTo>
                <a:cubicBezTo>
                  <a:pt x="15875" y="28476"/>
                  <a:pt x="44351" y="0"/>
                  <a:pt x="79375" y="0"/>
                </a:cubicBezTo>
                <a:lnTo>
                  <a:pt x="301625" y="0"/>
                </a:lnTo>
                <a:cubicBezTo>
                  <a:pt x="336649" y="0"/>
                  <a:pt x="365125" y="28476"/>
                  <a:pt x="365125" y="63500"/>
                </a:cubicBezTo>
                <a:lnTo>
                  <a:pt x="365125" y="444500"/>
                </a:lnTo>
                <a:cubicBezTo>
                  <a:pt x="365125" y="479524"/>
                  <a:pt x="336649" y="508000"/>
                  <a:pt x="301625" y="508000"/>
                </a:cubicBezTo>
                <a:lnTo>
                  <a:pt x="79375" y="508000"/>
                </a:lnTo>
                <a:cubicBezTo>
                  <a:pt x="44351" y="508000"/>
                  <a:pt x="15875" y="479524"/>
                  <a:pt x="15875" y="444500"/>
                </a:cubicBezTo>
                <a:lnTo>
                  <a:pt x="15875" y="63500"/>
                </a:lnTo>
                <a:close/>
                <a:moveTo>
                  <a:pt x="127000" y="436563"/>
                </a:moveTo>
                <a:cubicBezTo>
                  <a:pt x="127000" y="449759"/>
                  <a:pt x="137616" y="460375"/>
                  <a:pt x="150813" y="460375"/>
                </a:cubicBezTo>
                <a:lnTo>
                  <a:pt x="230188" y="460375"/>
                </a:lnTo>
                <a:cubicBezTo>
                  <a:pt x="243384" y="460375"/>
                  <a:pt x="254000" y="449759"/>
                  <a:pt x="254000" y="436563"/>
                </a:cubicBezTo>
                <a:cubicBezTo>
                  <a:pt x="254000" y="423366"/>
                  <a:pt x="243384" y="412750"/>
                  <a:pt x="230188" y="412750"/>
                </a:cubicBezTo>
                <a:lnTo>
                  <a:pt x="150813" y="412750"/>
                </a:lnTo>
                <a:cubicBezTo>
                  <a:pt x="137616" y="412750"/>
                  <a:pt x="127000" y="423366"/>
                  <a:pt x="127000" y="436563"/>
                </a:cubicBezTo>
                <a:close/>
                <a:moveTo>
                  <a:pt x="301625" y="63500"/>
                </a:moveTo>
                <a:lnTo>
                  <a:pt x="79375" y="63500"/>
                </a:lnTo>
                <a:lnTo>
                  <a:pt x="79375" y="365125"/>
                </a:lnTo>
                <a:lnTo>
                  <a:pt x="301625" y="365125"/>
                </a:lnTo>
                <a:lnTo>
                  <a:pt x="301625" y="6350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"/>
          <p:cNvSpPr/>
          <p:nvPr/>
        </p:nvSpPr>
        <p:spPr>
          <a:xfrm>
            <a:off x="11112500" y="3175000"/>
            <a:ext cx="4064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Interfaz Intuitiva</a:t>
            </a:r>
            <a:endParaRPr b="0" i="0" sz="2400" u="none" cap="none" strike="noStrike"/>
          </a:p>
        </p:txBody>
      </p:sp>
      <p:sp>
        <p:nvSpPr>
          <p:cNvPr id="70" name="Google Shape;70;p6"/>
          <p:cNvSpPr/>
          <p:nvPr/>
        </p:nvSpPr>
        <p:spPr>
          <a:xfrm>
            <a:off x="11112500" y="3657600"/>
            <a:ext cx="406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Dashboard con probabilidades en tiempo real. Alertas visuales cuando se detecta una falla.</a:t>
            </a:r>
            <a:endParaRPr b="0" i="0" sz="1600" u="none" cap="none" strike="noStrike"/>
          </a:p>
        </p:txBody>
      </p:sp>
      <p:sp>
        <p:nvSpPr>
          <p:cNvPr id="71" name="Google Shape;71;p6"/>
          <p:cNvSpPr/>
          <p:nvPr/>
        </p:nvSpPr>
        <p:spPr>
          <a:xfrm>
            <a:off x="762000" y="5511800"/>
            <a:ext cx="14732000" cy="2540000"/>
          </a:xfrm>
          <a:prstGeom prst="rect">
            <a:avLst/>
          </a:prstGeom>
          <a:gradFill>
            <a:gsLst>
              <a:gs pos="0">
                <a:srgbClr val="10B981">
                  <a:alpha val="7843"/>
                </a:srgbClr>
              </a:gs>
              <a:gs pos="100000">
                <a:srgbClr val="10B981">
                  <a:alpha val="1960"/>
                </a:srgbClr>
              </a:gs>
            </a:gsLst>
            <a:lin ang="0" scaled="0"/>
          </a:gradFill>
          <a:ln cap="flat" cmpd="sng" w="12700">
            <a:solidFill>
              <a:srgbClr val="10B981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6"/>
          <p:cNvSpPr/>
          <p:nvPr/>
        </p:nvSpPr>
        <p:spPr>
          <a:xfrm>
            <a:off x="1270000" y="60198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0B981"/>
                </a:solidFill>
                <a:latin typeface="Liter"/>
                <a:ea typeface="Liter"/>
                <a:cs typeface="Liter"/>
                <a:sym typeface="Liter"/>
              </a:rPr>
              <a:t>FLUJO DEL SISTEMA</a:t>
            </a:r>
            <a:endParaRPr b="0" i="0" sz="1600" u="none" cap="none" strike="noStrike"/>
          </a:p>
        </p:txBody>
      </p:sp>
      <p:sp>
        <p:nvSpPr>
          <p:cNvPr id="73" name="Google Shape;73;p6"/>
          <p:cNvSpPr/>
          <p:nvPr/>
        </p:nvSpPr>
        <p:spPr>
          <a:xfrm>
            <a:off x="1270000" y="6654800"/>
            <a:ext cx="2794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Liter"/>
                <a:ea typeface="Liter"/>
                <a:cs typeface="Liter"/>
                <a:sym typeface="Liter"/>
              </a:rPr>
              <a:t>1.</a:t>
            </a:r>
            <a:r>
              <a:rPr b="0" i="0" lang="en-US" sz="1800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 Captura de audio del motor</a:t>
            </a:r>
            <a:endParaRPr b="0" i="0" sz="1600" u="none" cap="none" strike="noStrike"/>
          </a:p>
        </p:txBody>
      </p:sp>
      <p:sp>
        <p:nvSpPr>
          <p:cNvPr id="74" name="Google Shape;74;p6"/>
          <p:cNvSpPr/>
          <p:nvPr/>
        </p:nvSpPr>
        <p:spPr>
          <a:xfrm>
            <a:off x="4191000" y="6781800"/>
            <a:ext cx="381000" cy="381000"/>
          </a:xfrm>
          <a:custGeom>
            <a:rect b="b" l="l" r="r" t="t"/>
            <a:pathLst>
              <a:path extrusionOk="0" h="381000" w="381000">
                <a:moveTo>
                  <a:pt x="374005" y="207318"/>
                </a:moveTo>
                <a:cubicBezTo>
                  <a:pt x="383307" y="198016"/>
                  <a:pt x="383307" y="182910"/>
                  <a:pt x="374005" y="173608"/>
                </a:cubicBezTo>
                <a:lnTo>
                  <a:pt x="254943" y="54546"/>
                </a:lnTo>
                <a:cubicBezTo>
                  <a:pt x="245641" y="45244"/>
                  <a:pt x="230535" y="45244"/>
                  <a:pt x="221233" y="54546"/>
                </a:cubicBezTo>
                <a:cubicBezTo>
                  <a:pt x="211931" y="63847"/>
                  <a:pt x="211931" y="78953"/>
                  <a:pt x="221233" y="88255"/>
                </a:cubicBezTo>
                <a:lnTo>
                  <a:pt x="299665" y="166688"/>
                </a:lnTo>
                <a:lnTo>
                  <a:pt x="23812" y="166688"/>
                </a:lnTo>
                <a:cubicBezTo>
                  <a:pt x="10641" y="166688"/>
                  <a:pt x="0" y="177329"/>
                  <a:pt x="0" y="190500"/>
                </a:cubicBezTo>
                <a:cubicBezTo>
                  <a:pt x="0" y="203671"/>
                  <a:pt x="10641" y="214313"/>
                  <a:pt x="23812" y="214313"/>
                </a:cubicBezTo>
                <a:lnTo>
                  <a:pt x="299665" y="214313"/>
                </a:lnTo>
                <a:lnTo>
                  <a:pt x="221233" y="292745"/>
                </a:lnTo>
                <a:cubicBezTo>
                  <a:pt x="211931" y="302047"/>
                  <a:pt x="211931" y="317153"/>
                  <a:pt x="221233" y="326454"/>
                </a:cubicBezTo>
                <a:cubicBezTo>
                  <a:pt x="230535" y="335756"/>
                  <a:pt x="245641" y="335756"/>
                  <a:pt x="254943" y="326454"/>
                </a:cubicBezTo>
                <a:lnTo>
                  <a:pt x="374005" y="207392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"/>
          <p:cNvSpPr/>
          <p:nvPr/>
        </p:nvSpPr>
        <p:spPr>
          <a:xfrm>
            <a:off x="4699000" y="6654800"/>
            <a:ext cx="2794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Liter"/>
                <a:ea typeface="Liter"/>
                <a:cs typeface="Liter"/>
                <a:sym typeface="Liter"/>
              </a:rPr>
              <a:t>2.</a:t>
            </a:r>
            <a:r>
              <a:rPr b="0" i="0" lang="en-US" sz="1800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 CNN clasifica el sonido</a:t>
            </a:r>
            <a:endParaRPr b="0" i="0" sz="1600" u="none" cap="none" strike="noStrike"/>
          </a:p>
        </p:txBody>
      </p:sp>
      <p:sp>
        <p:nvSpPr>
          <p:cNvPr id="76" name="Google Shape;76;p6"/>
          <p:cNvSpPr/>
          <p:nvPr/>
        </p:nvSpPr>
        <p:spPr>
          <a:xfrm>
            <a:off x="7620000" y="6781800"/>
            <a:ext cx="381000" cy="381000"/>
          </a:xfrm>
          <a:custGeom>
            <a:rect b="b" l="l" r="r" t="t"/>
            <a:pathLst>
              <a:path extrusionOk="0" h="381000" w="381000">
                <a:moveTo>
                  <a:pt x="374005" y="207318"/>
                </a:moveTo>
                <a:cubicBezTo>
                  <a:pt x="383307" y="198016"/>
                  <a:pt x="383307" y="182910"/>
                  <a:pt x="374005" y="173608"/>
                </a:cubicBezTo>
                <a:lnTo>
                  <a:pt x="254943" y="54546"/>
                </a:lnTo>
                <a:cubicBezTo>
                  <a:pt x="245641" y="45244"/>
                  <a:pt x="230535" y="45244"/>
                  <a:pt x="221233" y="54546"/>
                </a:cubicBezTo>
                <a:cubicBezTo>
                  <a:pt x="211931" y="63847"/>
                  <a:pt x="211931" y="78953"/>
                  <a:pt x="221233" y="88255"/>
                </a:cubicBezTo>
                <a:lnTo>
                  <a:pt x="299665" y="166688"/>
                </a:lnTo>
                <a:lnTo>
                  <a:pt x="23812" y="166688"/>
                </a:lnTo>
                <a:cubicBezTo>
                  <a:pt x="10641" y="166688"/>
                  <a:pt x="0" y="177329"/>
                  <a:pt x="0" y="190500"/>
                </a:cubicBezTo>
                <a:cubicBezTo>
                  <a:pt x="0" y="203671"/>
                  <a:pt x="10641" y="214313"/>
                  <a:pt x="23812" y="214313"/>
                </a:cubicBezTo>
                <a:lnTo>
                  <a:pt x="299665" y="214313"/>
                </a:lnTo>
                <a:lnTo>
                  <a:pt x="221233" y="292745"/>
                </a:lnTo>
                <a:cubicBezTo>
                  <a:pt x="211931" y="302047"/>
                  <a:pt x="211931" y="317153"/>
                  <a:pt x="221233" y="326454"/>
                </a:cubicBezTo>
                <a:cubicBezTo>
                  <a:pt x="230535" y="335756"/>
                  <a:pt x="245641" y="335756"/>
                  <a:pt x="254943" y="326454"/>
                </a:cubicBezTo>
                <a:lnTo>
                  <a:pt x="374005" y="207392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8128000" y="6654800"/>
            <a:ext cx="2794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Liter"/>
                <a:ea typeface="Liter"/>
                <a:cs typeface="Liter"/>
                <a:sym typeface="Liter"/>
              </a:rPr>
              <a:t>3.</a:t>
            </a:r>
            <a:r>
              <a:rPr b="0" i="0" lang="en-US" sz="1800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 WebSocket transmite</a:t>
            </a:r>
            <a:endParaRPr b="0" i="0" sz="1600" u="none" cap="none" strike="noStrike"/>
          </a:p>
        </p:txBody>
      </p:sp>
      <p:sp>
        <p:nvSpPr>
          <p:cNvPr id="78" name="Google Shape;78;p6"/>
          <p:cNvSpPr/>
          <p:nvPr/>
        </p:nvSpPr>
        <p:spPr>
          <a:xfrm>
            <a:off x="11049000" y="6781800"/>
            <a:ext cx="381000" cy="381000"/>
          </a:xfrm>
          <a:custGeom>
            <a:rect b="b" l="l" r="r" t="t"/>
            <a:pathLst>
              <a:path extrusionOk="0" h="381000" w="381000">
                <a:moveTo>
                  <a:pt x="374005" y="207318"/>
                </a:moveTo>
                <a:cubicBezTo>
                  <a:pt x="383307" y="198016"/>
                  <a:pt x="383307" y="182910"/>
                  <a:pt x="374005" y="173608"/>
                </a:cubicBezTo>
                <a:lnTo>
                  <a:pt x="254943" y="54546"/>
                </a:lnTo>
                <a:cubicBezTo>
                  <a:pt x="245641" y="45244"/>
                  <a:pt x="230535" y="45244"/>
                  <a:pt x="221233" y="54546"/>
                </a:cubicBezTo>
                <a:cubicBezTo>
                  <a:pt x="211931" y="63847"/>
                  <a:pt x="211931" y="78953"/>
                  <a:pt x="221233" y="88255"/>
                </a:cubicBezTo>
                <a:lnTo>
                  <a:pt x="299665" y="166688"/>
                </a:lnTo>
                <a:lnTo>
                  <a:pt x="23812" y="166688"/>
                </a:lnTo>
                <a:cubicBezTo>
                  <a:pt x="10641" y="166688"/>
                  <a:pt x="0" y="177329"/>
                  <a:pt x="0" y="190500"/>
                </a:cubicBezTo>
                <a:cubicBezTo>
                  <a:pt x="0" y="203671"/>
                  <a:pt x="10641" y="214313"/>
                  <a:pt x="23812" y="214313"/>
                </a:cubicBezTo>
                <a:lnTo>
                  <a:pt x="299665" y="214313"/>
                </a:lnTo>
                <a:lnTo>
                  <a:pt x="221233" y="292745"/>
                </a:lnTo>
                <a:cubicBezTo>
                  <a:pt x="211931" y="302047"/>
                  <a:pt x="211931" y="317153"/>
                  <a:pt x="221233" y="326454"/>
                </a:cubicBezTo>
                <a:cubicBezTo>
                  <a:pt x="230535" y="335756"/>
                  <a:pt x="245641" y="335756"/>
                  <a:pt x="254943" y="326454"/>
                </a:cubicBezTo>
                <a:lnTo>
                  <a:pt x="374005" y="207392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/>
          <p:nvPr/>
        </p:nvSpPr>
        <p:spPr>
          <a:xfrm>
            <a:off x="11557000" y="6654800"/>
            <a:ext cx="3302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Liter"/>
                <a:ea typeface="Liter"/>
                <a:cs typeface="Liter"/>
                <a:sym typeface="Liter"/>
              </a:rPr>
              <a:t>4.</a:t>
            </a:r>
            <a:r>
              <a:rPr b="0" i="0" lang="en-US" sz="1800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 Alerta con probabilidades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7"/>
          <p:cNvSpPr/>
          <p:nvPr/>
        </p:nvSpPr>
        <p:spPr>
          <a:xfrm>
            <a:off x="762000" y="2794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Liter"/>
                <a:ea typeface="Liter"/>
                <a:cs typeface="Liter"/>
                <a:sym typeface="Liter"/>
              </a:rPr>
              <a:t>EN-RUUMBIZA</a:t>
            </a:r>
            <a:endParaRPr b="0" i="0" sz="1600" u="none" cap="none" strike="noStrike"/>
          </a:p>
        </p:txBody>
      </p:sp>
      <p:sp>
        <p:nvSpPr>
          <p:cNvPr id="87" name="Google Shape;87;p7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Liter"/>
                <a:ea typeface="Liter"/>
                <a:cs typeface="Liter"/>
                <a:sym typeface="Liter"/>
              </a:rPr>
              <a:t>04</a:t>
            </a:r>
            <a:endParaRPr b="0" i="0" sz="1400" u="none" cap="none" strike="noStrike"/>
          </a:p>
        </p:txBody>
      </p:sp>
      <p:sp>
        <p:nvSpPr>
          <p:cNvPr id="88" name="Google Shape;88;p7"/>
          <p:cNvSpPr/>
          <p:nvPr/>
        </p:nvSpPr>
        <p:spPr>
          <a:xfrm>
            <a:off x="762000" y="1016000"/>
            <a:ext cx="889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0B981"/>
                </a:solidFill>
                <a:latin typeface="Liter"/>
                <a:ea typeface="Liter"/>
                <a:cs typeface="Liter"/>
                <a:sym typeface="Liter"/>
              </a:rPr>
              <a:t>DATASET &amp; CLASIFICACIÓN</a:t>
            </a:r>
            <a:endParaRPr b="0" i="0" sz="3200" u="none" cap="none" strike="noStrike"/>
          </a:p>
        </p:txBody>
      </p:sp>
      <p:sp>
        <p:nvSpPr>
          <p:cNvPr id="89" name="Google Shape;89;p7"/>
          <p:cNvSpPr/>
          <p:nvPr/>
        </p:nvSpPr>
        <p:spPr>
          <a:xfrm>
            <a:off x="762000" y="1651000"/>
            <a:ext cx="1016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7"/>
          <p:cNvSpPr/>
          <p:nvPr/>
        </p:nvSpPr>
        <p:spPr>
          <a:xfrm>
            <a:off x="762000" y="1879600"/>
            <a:ext cx="889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Liter"/>
                <a:ea typeface="Liter"/>
                <a:cs typeface="Liter"/>
                <a:sym typeface="Liter"/>
              </a:rPr>
              <a:t>9 clases de sonidos automotrices: 5 fallas + 4 estados normales</a:t>
            </a:r>
            <a:endParaRPr b="0" i="0" sz="1600" u="none" cap="none" strike="noStrike"/>
          </a:p>
        </p:txBody>
      </p:sp>
      <p:sp>
        <p:nvSpPr>
          <p:cNvPr id="91" name="Google Shape;91;p7"/>
          <p:cNvSpPr/>
          <p:nvPr/>
        </p:nvSpPr>
        <p:spPr>
          <a:xfrm>
            <a:off x="762000" y="2540000"/>
            <a:ext cx="4699000" cy="13970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"/>
          <p:cNvSpPr/>
          <p:nvPr/>
        </p:nvSpPr>
        <p:spPr>
          <a:xfrm>
            <a:off x="1038225" y="2857500"/>
            <a:ext cx="311150" cy="355600"/>
          </a:xfrm>
          <a:custGeom>
            <a:rect b="b" l="l" r="r" t="t"/>
            <a:pathLst>
              <a:path extrusionOk="0" h="355600" w="311150">
                <a:moveTo>
                  <a:pt x="111472" y="-18336"/>
                </a:moveTo>
                <a:cubicBezTo>
                  <a:pt x="117931" y="-23753"/>
                  <a:pt x="127446" y="-23545"/>
                  <a:pt x="133628" y="-17711"/>
                </a:cubicBezTo>
                <a:cubicBezTo>
                  <a:pt x="142171" y="-9654"/>
                  <a:pt x="149810" y="-764"/>
                  <a:pt x="157172" y="8265"/>
                </a:cubicBezTo>
                <a:cubicBezTo>
                  <a:pt x="166549" y="19725"/>
                  <a:pt x="177800" y="34865"/>
                  <a:pt x="188635" y="52854"/>
                </a:cubicBezTo>
                <a:cubicBezTo>
                  <a:pt x="192246" y="48131"/>
                  <a:pt x="195580" y="43964"/>
                  <a:pt x="198497" y="40422"/>
                </a:cubicBezTo>
                <a:cubicBezTo>
                  <a:pt x="199261" y="39519"/>
                  <a:pt x="200025" y="38546"/>
                  <a:pt x="200789" y="37574"/>
                </a:cubicBezTo>
                <a:cubicBezTo>
                  <a:pt x="206276" y="30768"/>
                  <a:pt x="213082" y="22225"/>
                  <a:pt x="222181" y="22225"/>
                </a:cubicBezTo>
                <a:cubicBezTo>
                  <a:pt x="231487" y="22225"/>
                  <a:pt x="238016" y="30490"/>
                  <a:pt x="243572" y="37574"/>
                </a:cubicBezTo>
                <a:cubicBezTo>
                  <a:pt x="244475" y="38755"/>
                  <a:pt x="245378" y="39866"/>
                  <a:pt x="246281" y="40908"/>
                </a:cubicBezTo>
                <a:cubicBezTo>
                  <a:pt x="253434" y="49520"/>
                  <a:pt x="262950" y="61952"/>
                  <a:pt x="272465" y="77301"/>
                </a:cubicBezTo>
                <a:cubicBezTo>
                  <a:pt x="291356" y="107791"/>
                  <a:pt x="311081" y="151199"/>
                  <a:pt x="311081" y="199956"/>
                </a:cubicBezTo>
                <a:cubicBezTo>
                  <a:pt x="311081" y="285869"/>
                  <a:pt x="241419" y="355531"/>
                  <a:pt x="155506" y="355531"/>
                </a:cubicBezTo>
                <a:cubicBezTo>
                  <a:pt x="69592" y="355531"/>
                  <a:pt x="0" y="285939"/>
                  <a:pt x="0" y="200025"/>
                </a:cubicBezTo>
                <a:cubicBezTo>
                  <a:pt x="0" y="136753"/>
                  <a:pt x="28545" y="81955"/>
                  <a:pt x="55910" y="43755"/>
                </a:cubicBezTo>
                <a:cubicBezTo>
                  <a:pt x="69731" y="24517"/>
                  <a:pt x="83483" y="9098"/>
                  <a:pt x="93831" y="-1459"/>
                </a:cubicBezTo>
                <a:cubicBezTo>
                  <a:pt x="99526" y="-7293"/>
                  <a:pt x="105291" y="-13057"/>
                  <a:pt x="111542" y="-18266"/>
                </a:cubicBezTo>
                <a:close/>
                <a:moveTo>
                  <a:pt x="156756" y="288925"/>
                </a:moveTo>
                <a:cubicBezTo>
                  <a:pt x="174327" y="288925"/>
                  <a:pt x="189885" y="284063"/>
                  <a:pt x="204539" y="274340"/>
                </a:cubicBezTo>
                <a:cubicBezTo>
                  <a:pt x="233779" y="253921"/>
                  <a:pt x="241627" y="213082"/>
                  <a:pt x="224056" y="180995"/>
                </a:cubicBezTo>
                <a:cubicBezTo>
                  <a:pt x="220930" y="174744"/>
                  <a:pt x="212943" y="174327"/>
                  <a:pt x="208429" y="179606"/>
                </a:cubicBezTo>
                <a:lnTo>
                  <a:pt x="190927" y="199956"/>
                </a:lnTo>
                <a:cubicBezTo>
                  <a:pt x="186343" y="205234"/>
                  <a:pt x="178078" y="205095"/>
                  <a:pt x="173772" y="199608"/>
                </a:cubicBezTo>
                <a:cubicBezTo>
                  <a:pt x="161756" y="184259"/>
                  <a:pt x="139670" y="156270"/>
                  <a:pt x="128419" y="141962"/>
                </a:cubicBezTo>
                <a:cubicBezTo>
                  <a:pt x="124668" y="137170"/>
                  <a:pt x="117862" y="136406"/>
                  <a:pt x="113486" y="140643"/>
                </a:cubicBezTo>
                <a:cubicBezTo>
                  <a:pt x="100776" y="153005"/>
                  <a:pt x="77718" y="180092"/>
                  <a:pt x="77718" y="213082"/>
                </a:cubicBezTo>
                <a:cubicBezTo>
                  <a:pt x="77718" y="260727"/>
                  <a:pt x="112861" y="288925"/>
                  <a:pt x="156686" y="288925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"/>
          <p:cNvSpPr/>
          <p:nvPr/>
        </p:nvSpPr>
        <p:spPr>
          <a:xfrm>
            <a:off x="1524000" y="2794000"/>
            <a:ext cx="3683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bad_ignition</a:t>
            </a:r>
            <a:endParaRPr b="0" i="0" sz="1600" u="none" cap="none" strike="noStrike"/>
          </a:p>
        </p:txBody>
      </p:sp>
      <p:sp>
        <p:nvSpPr>
          <p:cNvPr id="94" name="Google Shape;94;p7"/>
          <p:cNvSpPr/>
          <p:nvPr/>
        </p:nvSpPr>
        <p:spPr>
          <a:xfrm>
            <a:off x="1524000" y="3175000"/>
            <a:ext cx="3683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Liter"/>
                <a:ea typeface="Liter"/>
                <a:cs typeface="Liter"/>
                <a:sym typeface="Liter"/>
              </a:rPr>
              <a:t>Falla en el sistema de encendido</a:t>
            </a:r>
            <a:endParaRPr b="0" i="0" sz="1600" u="none" cap="none" strike="noStrike"/>
          </a:p>
        </p:txBody>
      </p:sp>
      <p:sp>
        <p:nvSpPr>
          <p:cNvPr id="95" name="Google Shape;95;p7"/>
          <p:cNvSpPr/>
          <p:nvPr/>
        </p:nvSpPr>
        <p:spPr>
          <a:xfrm>
            <a:off x="5778500" y="2540000"/>
            <a:ext cx="4699000" cy="13970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5988050" y="2857500"/>
            <a:ext cx="444500" cy="355600"/>
          </a:xfrm>
          <a:custGeom>
            <a:rect b="b" l="l" r="r" t="t"/>
            <a:pathLst>
              <a:path extrusionOk="0" h="355600" w="444500">
                <a:moveTo>
                  <a:pt x="366712" y="88900"/>
                </a:moveTo>
                <a:cubicBezTo>
                  <a:pt x="372824" y="88900"/>
                  <a:pt x="377825" y="93901"/>
                  <a:pt x="377825" y="100013"/>
                </a:cubicBezTo>
                <a:lnTo>
                  <a:pt x="377825" y="255587"/>
                </a:lnTo>
                <a:cubicBezTo>
                  <a:pt x="377825" y="261699"/>
                  <a:pt x="372824" y="266700"/>
                  <a:pt x="366712" y="266700"/>
                </a:cubicBezTo>
                <a:lnTo>
                  <a:pt x="77788" y="266700"/>
                </a:lnTo>
                <a:cubicBezTo>
                  <a:pt x="71676" y="266700"/>
                  <a:pt x="66675" y="261699"/>
                  <a:pt x="66675" y="255587"/>
                </a:cubicBezTo>
                <a:lnTo>
                  <a:pt x="66675" y="100013"/>
                </a:lnTo>
                <a:cubicBezTo>
                  <a:pt x="66675" y="93901"/>
                  <a:pt x="71676" y="88900"/>
                  <a:pt x="77788" y="88900"/>
                </a:cubicBezTo>
                <a:lnTo>
                  <a:pt x="366712" y="88900"/>
                </a:lnTo>
                <a:close/>
                <a:moveTo>
                  <a:pt x="77788" y="44450"/>
                </a:moveTo>
                <a:cubicBezTo>
                  <a:pt x="47089" y="44450"/>
                  <a:pt x="22225" y="69314"/>
                  <a:pt x="22225" y="100013"/>
                </a:cubicBezTo>
                <a:lnTo>
                  <a:pt x="22225" y="255587"/>
                </a:lnTo>
                <a:cubicBezTo>
                  <a:pt x="22225" y="286286"/>
                  <a:pt x="47089" y="311150"/>
                  <a:pt x="77788" y="311150"/>
                </a:cubicBezTo>
                <a:lnTo>
                  <a:pt x="366712" y="311150"/>
                </a:lnTo>
                <a:cubicBezTo>
                  <a:pt x="397411" y="311150"/>
                  <a:pt x="422275" y="286286"/>
                  <a:pt x="422275" y="255587"/>
                </a:cubicBezTo>
                <a:lnTo>
                  <a:pt x="422275" y="222250"/>
                </a:lnTo>
                <a:cubicBezTo>
                  <a:pt x="434568" y="222250"/>
                  <a:pt x="444500" y="212318"/>
                  <a:pt x="444500" y="200025"/>
                </a:cubicBezTo>
                <a:lnTo>
                  <a:pt x="444500" y="155575"/>
                </a:lnTo>
                <a:cubicBezTo>
                  <a:pt x="444500" y="143282"/>
                  <a:pt x="434568" y="133350"/>
                  <a:pt x="422275" y="133350"/>
                </a:cubicBezTo>
                <a:lnTo>
                  <a:pt x="422275" y="100013"/>
                </a:lnTo>
                <a:cubicBezTo>
                  <a:pt x="422275" y="69314"/>
                  <a:pt x="397411" y="44450"/>
                  <a:pt x="366712" y="44450"/>
                </a:cubicBezTo>
                <a:lnTo>
                  <a:pt x="77788" y="44450"/>
                </a:lnTo>
                <a:close/>
                <a:moveTo>
                  <a:pt x="116681" y="122238"/>
                </a:moveTo>
                <a:cubicBezTo>
                  <a:pt x="107444" y="122238"/>
                  <a:pt x="100013" y="129669"/>
                  <a:pt x="100013" y="138906"/>
                </a:cubicBezTo>
                <a:lnTo>
                  <a:pt x="100013" y="216694"/>
                </a:lnTo>
                <a:cubicBezTo>
                  <a:pt x="100013" y="225931"/>
                  <a:pt x="107444" y="233363"/>
                  <a:pt x="116681" y="233363"/>
                </a:cubicBezTo>
                <a:lnTo>
                  <a:pt x="161131" y="233363"/>
                </a:lnTo>
                <a:cubicBezTo>
                  <a:pt x="170369" y="233363"/>
                  <a:pt x="177800" y="225931"/>
                  <a:pt x="177800" y="216694"/>
                </a:cubicBezTo>
                <a:lnTo>
                  <a:pt x="177800" y="138906"/>
                </a:lnTo>
                <a:cubicBezTo>
                  <a:pt x="177800" y="129669"/>
                  <a:pt x="170369" y="122238"/>
                  <a:pt x="161131" y="122238"/>
                </a:cubicBezTo>
                <a:lnTo>
                  <a:pt x="116681" y="122238"/>
                </a:ln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7"/>
          <p:cNvSpPr/>
          <p:nvPr/>
        </p:nvSpPr>
        <p:spPr>
          <a:xfrm>
            <a:off x="6540500" y="2794000"/>
            <a:ext cx="3683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dead_battery</a:t>
            </a:r>
            <a:endParaRPr b="0" i="0" sz="1600" u="none" cap="none" strike="noStrike"/>
          </a:p>
        </p:txBody>
      </p:sp>
      <p:sp>
        <p:nvSpPr>
          <p:cNvPr id="98" name="Google Shape;98;p7"/>
          <p:cNvSpPr/>
          <p:nvPr/>
        </p:nvSpPr>
        <p:spPr>
          <a:xfrm>
            <a:off x="6540500" y="3175000"/>
            <a:ext cx="3683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Liter"/>
                <a:ea typeface="Liter"/>
                <a:cs typeface="Liter"/>
                <a:sym typeface="Liter"/>
              </a:rPr>
              <a:t>Batería descargada</a:t>
            </a:r>
            <a:endParaRPr b="0" i="0" sz="1600" u="none" cap="none" strike="noStrike"/>
          </a:p>
        </p:txBody>
      </p:sp>
      <p:sp>
        <p:nvSpPr>
          <p:cNvPr id="99" name="Google Shape;99;p7"/>
          <p:cNvSpPr/>
          <p:nvPr/>
        </p:nvSpPr>
        <p:spPr>
          <a:xfrm>
            <a:off x="10795000" y="2540000"/>
            <a:ext cx="4699000" cy="13970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"/>
          <p:cNvSpPr/>
          <p:nvPr/>
        </p:nvSpPr>
        <p:spPr>
          <a:xfrm>
            <a:off x="11093450" y="2857500"/>
            <a:ext cx="266700" cy="355600"/>
          </a:xfrm>
          <a:custGeom>
            <a:rect b="b" l="l" r="r" t="t"/>
            <a:pathLst>
              <a:path extrusionOk="0" h="355600" w="266700">
                <a:moveTo>
                  <a:pt x="133350" y="355600"/>
                </a:moveTo>
                <a:cubicBezTo>
                  <a:pt x="59730" y="355600"/>
                  <a:pt x="0" y="295870"/>
                  <a:pt x="0" y="222250"/>
                </a:cubicBezTo>
                <a:cubicBezTo>
                  <a:pt x="0" y="158909"/>
                  <a:pt x="90428" y="31879"/>
                  <a:pt x="115709" y="-2431"/>
                </a:cubicBezTo>
                <a:cubicBezTo>
                  <a:pt x="119807" y="-7987"/>
                  <a:pt x="126266" y="-11112"/>
                  <a:pt x="133211" y="-11112"/>
                </a:cubicBezTo>
                <a:lnTo>
                  <a:pt x="133489" y="-11112"/>
                </a:lnTo>
                <a:cubicBezTo>
                  <a:pt x="140434" y="-11112"/>
                  <a:pt x="146893" y="-7987"/>
                  <a:pt x="150991" y="-2431"/>
                </a:cubicBezTo>
                <a:cubicBezTo>
                  <a:pt x="176272" y="31879"/>
                  <a:pt x="266700" y="158909"/>
                  <a:pt x="266700" y="222250"/>
                </a:cubicBezTo>
                <a:cubicBezTo>
                  <a:pt x="266700" y="295870"/>
                  <a:pt x="206970" y="355600"/>
                  <a:pt x="133350" y="355600"/>
                </a:cubicBezTo>
                <a:close/>
                <a:moveTo>
                  <a:pt x="77788" y="216694"/>
                </a:moveTo>
                <a:cubicBezTo>
                  <a:pt x="77788" y="207456"/>
                  <a:pt x="70356" y="200025"/>
                  <a:pt x="61119" y="200025"/>
                </a:cubicBezTo>
                <a:cubicBezTo>
                  <a:pt x="51881" y="200025"/>
                  <a:pt x="44450" y="207456"/>
                  <a:pt x="44450" y="216694"/>
                </a:cubicBezTo>
                <a:cubicBezTo>
                  <a:pt x="44450" y="268853"/>
                  <a:pt x="86747" y="311150"/>
                  <a:pt x="138906" y="311150"/>
                </a:cubicBezTo>
                <a:cubicBezTo>
                  <a:pt x="148144" y="311150"/>
                  <a:pt x="155575" y="303719"/>
                  <a:pt x="155575" y="294481"/>
                </a:cubicBezTo>
                <a:cubicBezTo>
                  <a:pt x="155575" y="285244"/>
                  <a:pt x="148144" y="277813"/>
                  <a:pt x="138906" y="277813"/>
                </a:cubicBezTo>
                <a:cubicBezTo>
                  <a:pt x="105152" y="277813"/>
                  <a:pt x="77788" y="250448"/>
                  <a:pt x="77788" y="216694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11557000" y="2794000"/>
            <a:ext cx="3683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low_oil</a:t>
            </a:r>
            <a:endParaRPr b="0" i="0" sz="1600" u="none" cap="none" strike="noStrike"/>
          </a:p>
        </p:txBody>
      </p:sp>
      <p:sp>
        <p:nvSpPr>
          <p:cNvPr id="102" name="Google Shape;102;p7"/>
          <p:cNvSpPr/>
          <p:nvPr/>
        </p:nvSpPr>
        <p:spPr>
          <a:xfrm>
            <a:off x="11557000" y="3175000"/>
            <a:ext cx="3683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Liter"/>
                <a:ea typeface="Liter"/>
                <a:cs typeface="Liter"/>
                <a:sym typeface="Liter"/>
              </a:rPr>
              <a:t>Nivel de aceite bajo</a:t>
            </a:r>
            <a:endParaRPr b="0" i="0" sz="1600" u="none" cap="none" strike="noStrike"/>
          </a:p>
        </p:txBody>
      </p:sp>
      <p:sp>
        <p:nvSpPr>
          <p:cNvPr id="103" name="Google Shape;103;p7"/>
          <p:cNvSpPr/>
          <p:nvPr/>
        </p:nvSpPr>
        <p:spPr>
          <a:xfrm>
            <a:off x="762000" y="4191000"/>
            <a:ext cx="4699000" cy="13970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0B981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1016000" y="4508500"/>
            <a:ext cx="355600" cy="355600"/>
          </a:xfrm>
          <a:custGeom>
            <a:rect b="b" l="l" r="r" t="t"/>
            <a:pathLst>
              <a:path extrusionOk="0" h="355600" w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1524000" y="4445000"/>
            <a:ext cx="3683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normal_brakes</a:t>
            </a:r>
            <a:endParaRPr b="0" i="0" sz="1600" u="none" cap="none" strike="noStrike"/>
          </a:p>
        </p:txBody>
      </p:sp>
      <p:sp>
        <p:nvSpPr>
          <p:cNvPr id="106" name="Google Shape;106;p7"/>
          <p:cNvSpPr/>
          <p:nvPr/>
        </p:nvSpPr>
        <p:spPr>
          <a:xfrm>
            <a:off x="1524000" y="4826000"/>
            <a:ext cx="3683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Liter"/>
                <a:ea typeface="Liter"/>
                <a:cs typeface="Liter"/>
                <a:sym typeface="Liter"/>
              </a:rPr>
              <a:t>Frenos normales</a:t>
            </a:r>
            <a:endParaRPr b="0" i="0" sz="1600" u="none" cap="none" strike="noStrike"/>
          </a:p>
        </p:txBody>
      </p:sp>
      <p:sp>
        <p:nvSpPr>
          <p:cNvPr id="107" name="Google Shape;107;p7"/>
          <p:cNvSpPr/>
          <p:nvPr/>
        </p:nvSpPr>
        <p:spPr>
          <a:xfrm>
            <a:off x="5778500" y="4191000"/>
            <a:ext cx="4699000" cy="13970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0B981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6032500" y="4508500"/>
            <a:ext cx="355600" cy="355600"/>
          </a:xfrm>
          <a:custGeom>
            <a:rect b="b" l="l" r="r" t="t"/>
            <a:pathLst>
              <a:path extrusionOk="0" h="355600" w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6540500" y="4445000"/>
            <a:ext cx="3683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normal_engine_idle</a:t>
            </a:r>
            <a:endParaRPr b="0" i="0" sz="1600" u="none" cap="none" strike="noStrike"/>
          </a:p>
        </p:txBody>
      </p:sp>
      <p:sp>
        <p:nvSpPr>
          <p:cNvPr id="110" name="Google Shape;110;p7"/>
          <p:cNvSpPr/>
          <p:nvPr/>
        </p:nvSpPr>
        <p:spPr>
          <a:xfrm>
            <a:off x="6540500" y="4826000"/>
            <a:ext cx="3683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Liter"/>
                <a:ea typeface="Liter"/>
                <a:cs typeface="Liter"/>
                <a:sym typeface="Liter"/>
              </a:rPr>
              <a:t>Motor en ralentí normal</a:t>
            </a:r>
            <a:endParaRPr b="0" i="0" sz="1600" u="none" cap="none" strike="noStrike"/>
          </a:p>
        </p:txBody>
      </p:sp>
      <p:sp>
        <p:nvSpPr>
          <p:cNvPr id="111" name="Google Shape;111;p7"/>
          <p:cNvSpPr/>
          <p:nvPr/>
        </p:nvSpPr>
        <p:spPr>
          <a:xfrm>
            <a:off x="10795000" y="4191000"/>
            <a:ext cx="4699000" cy="13970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0B981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11049000" y="4508500"/>
            <a:ext cx="355600" cy="355600"/>
          </a:xfrm>
          <a:custGeom>
            <a:rect b="b" l="l" r="r" t="t"/>
            <a:pathLst>
              <a:path extrusionOk="0" h="355600" w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11557000" y="4445000"/>
            <a:ext cx="3683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normal_engine_startup</a:t>
            </a:r>
            <a:endParaRPr b="0" i="0" sz="1600" u="none" cap="none" strike="noStrike"/>
          </a:p>
        </p:txBody>
      </p:sp>
      <p:sp>
        <p:nvSpPr>
          <p:cNvPr id="114" name="Google Shape;114;p7"/>
          <p:cNvSpPr/>
          <p:nvPr/>
        </p:nvSpPr>
        <p:spPr>
          <a:xfrm>
            <a:off x="11557000" y="4826000"/>
            <a:ext cx="3683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Liter"/>
                <a:ea typeface="Liter"/>
                <a:cs typeface="Liter"/>
                <a:sym typeface="Liter"/>
              </a:rPr>
              <a:t>Arranque normal del motor</a:t>
            </a:r>
            <a:endParaRPr b="0" i="0" sz="1600" u="none" cap="none" strike="noStrike"/>
          </a:p>
        </p:txBody>
      </p:sp>
      <p:sp>
        <p:nvSpPr>
          <p:cNvPr id="115" name="Google Shape;115;p7"/>
          <p:cNvSpPr/>
          <p:nvPr/>
        </p:nvSpPr>
        <p:spPr>
          <a:xfrm>
            <a:off x="762000" y="5842000"/>
            <a:ext cx="4699000" cy="13970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1524000" y="6096000"/>
            <a:ext cx="3683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power_steering</a:t>
            </a:r>
            <a:endParaRPr b="0" i="0" sz="1600" u="none" cap="none" strike="noStrike"/>
          </a:p>
        </p:txBody>
      </p:sp>
      <p:sp>
        <p:nvSpPr>
          <p:cNvPr id="117" name="Google Shape;117;p7"/>
          <p:cNvSpPr/>
          <p:nvPr/>
        </p:nvSpPr>
        <p:spPr>
          <a:xfrm>
            <a:off x="1524000" y="6477000"/>
            <a:ext cx="3683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Liter"/>
                <a:ea typeface="Liter"/>
                <a:cs typeface="Liter"/>
                <a:sym typeface="Liter"/>
              </a:rPr>
              <a:t>Problema en dirección asistida</a:t>
            </a:r>
            <a:endParaRPr b="0" i="0" sz="1600" u="none" cap="none" strike="noStrike"/>
          </a:p>
        </p:txBody>
      </p:sp>
      <p:sp>
        <p:nvSpPr>
          <p:cNvPr id="118" name="Google Shape;118;p7"/>
          <p:cNvSpPr/>
          <p:nvPr/>
        </p:nvSpPr>
        <p:spPr>
          <a:xfrm>
            <a:off x="5778500" y="5842000"/>
            <a:ext cx="4699000" cy="13970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5988050" y="6159500"/>
            <a:ext cx="444500" cy="355600"/>
          </a:xfrm>
          <a:custGeom>
            <a:rect b="b" l="l" r="r" t="t"/>
            <a:pathLst>
              <a:path extrusionOk="0" h="355600" w="444500">
                <a:moveTo>
                  <a:pt x="288856" y="146199"/>
                </a:moveTo>
                <a:cubicBezTo>
                  <a:pt x="297329" y="143907"/>
                  <a:pt x="306219" y="147935"/>
                  <a:pt x="310039" y="155783"/>
                </a:cubicBezTo>
                <a:lnTo>
                  <a:pt x="322957" y="181898"/>
                </a:lnTo>
                <a:cubicBezTo>
                  <a:pt x="330111" y="182870"/>
                  <a:pt x="337125" y="184815"/>
                  <a:pt x="343724" y="187523"/>
                </a:cubicBezTo>
                <a:lnTo>
                  <a:pt x="368032" y="171341"/>
                </a:lnTo>
                <a:cubicBezTo>
                  <a:pt x="375325" y="166479"/>
                  <a:pt x="384979" y="167451"/>
                  <a:pt x="391160" y="173633"/>
                </a:cubicBezTo>
                <a:lnTo>
                  <a:pt x="404495" y="186968"/>
                </a:lnTo>
                <a:cubicBezTo>
                  <a:pt x="410676" y="193149"/>
                  <a:pt x="411649" y="202873"/>
                  <a:pt x="406787" y="210096"/>
                </a:cubicBezTo>
                <a:lnTo>
                  <a:pt x="390604" y="234335"/>
                </a:lnTo>
                <a:cubicBezTo>
                  <a:pt x="391924" y="237599"/>
                  <a:pt x="393105" y="241002"/>
                  <a:pt x="394077" y="244544"/>
                </a:cubicBezTo>
                <a:cubicBezTo>
                  <a:pt x="395049" y="248087"/>
                  <a:pt x="395674" y="251559"/>
                  <a:pt x="396161" y="255101"/>
                </a:cubicBezTo>
                <a:lnTo>
                  <a:pt x="422344" y="268020"/>
                </a:lnTo>
                <a:cubicBezTo>
                  <a:pt x="430193" y="271909"/>
                  <a:pt x="434221" y="280799"/>
                  <a:pt x="431929" y="289203"/>
                </a:cubicBezTo>
                <a:lnTo>
                  <a:pt x="427067" y="307400"/>
                </a:lnTo>
                <a:cubicBezTo>
                  <a:pt x="424775" y="315803"/>
                  <a:pt x="416927" y="321499"/>
                  <a:pt x="408176" y="320943"/>
                </a:cubicBezTo>
                <a:lnTo>
                  <a:pt x="379006" y="319068"/>
                </a:lnTo>
                <a:cubicBezTo>
                  <a:pt x="374630" y="324693"/>
                  <a:pt x="369560" y="329902"/>
                  <a:pt x="363795" y="334347"/>
                </a:cubicBezTo>
                <a:lnTo>
                  <a:pt x="365671" y="363448"/>
                </a:lnTo>
                <a:cubicBezTo>
                  <a:pt x="366226" y="372199"/>
                  <a:pt x="360531" y="380117"/>
                  <a:pt x="352127" y="382339"/>
                </a:cubicBezTo>
                <a:lnTo>
                  <a:pt x="333931" y="387201"/>
                </a:lnTo>
                <a:cubicBezTo>
                  <a:pt x="325457" y="389493"/>
                  <a:pt x="316637" y="385465"/>
                  <a:pt x="312747" y="377617"/>
                </a:cubicBezTo>
                <a:lnTo>
                  <a:pt x="299829" y="351502"/>
                </a:lnTo>
                <a:cubicBezTo>
                  <a:pt x="292675" y="350530"/>
                  <a:pt x="285661" y="348585"/>
                  <a:pt x="279063" y="345877"/>
                </a:cubicBezTo>
                <a:lnTo>
                  <a:pt x="254754" y="362059"/>
                </a:lnTo>
                <a:cubicBezTo>
                  <a:pt x="247461" y="366921"/>
                  <a:pt x="237808" y="365949"/>
                  <a:pt x="231626" y="359767"/>
                </a:cubicBezTo>
                <a:lnTo>
                  <a:pt x="218291" y="346432"/>
                </a:lnTo>
                <a:cubicBezTo>
                  <a:pt x="212110" y="340251"/>
                  <a:pt x="211138" y="330597"/>
                  <a:pt x="215999" y="323304"/>
                </a:cubicBezTo>
                <a:lnTo>
                  <a:pt x="232182" y="298996"/>
                </a:lnTo>
                <a:cubicBezTo>
                  <a:pt x="230862" y="295731"/>
                  <a:pt x="229681" y="292328"/>
                  <a:pt x="228709" y="288786"/>
                </a:cubicBezTo>
                <a:cubicBezTo>
                  <a:pt x="227737" y="285244"/>
                  <a:pt x="227112" y="281702"/>
                  <a:pt x="226626" y="278229"/>
                </a:cubicBezTo>
                <a:lnTo>
                  <a:pt x="200442" y="265311"/>
                </a:lnTo>
                <a:cubicBezTo>
                  <a:pt x="192594" y="261422"/>
                  <a:pt x="188635" y="252532"/>
                  <a:pt x="190857" y="244128"/>
                </a:cubicBezTo>
                <a:lnTo>
                  <a:pt x="195719" y="225931"/>
                </a:lnTo>
                <a:cubicBezTo>
                  <a:pt x="198011" y="217527"/>
                  <a:pt x="205859" y="211832"/>
                  <a:pt x="214610" y="212388"/>
                </a:cubicBezTo>
                <a:lnTo>
                  <a:pt x="243711" y="214263"/>
                </a:lnTo>
                <a:cubicBezTo>
                  <a:pt x="248087" y="208637"/>
                  <a:pt x="253157" y="203428"/>
                  <a:pt x="258921" y="198983"/>
                </a:cubicBezTo>
                <a:lnTo>
                  <a:pt x="257046" y="169952"/>
                </a:lnTo>
                <a:cubicBezTo>
                  <a:pt x="256490" y="161201"/>
                  <a:pt x="262186" y="153283"/>
                  <a:pt x="270589" y="151061"/>
                </a:cubicBezTo>
                <a:lnTo>
                  <a:pt x="288786" y="146199"/>
                </a:lnTo>
                <a:close/>
                <a:moveTo>
                  <a:pt x="311428" y="236141"/>
                </a:moveTo>
                <a:cubicBezTo>
                  <a:pt x="294562" y="236160"/>
                  <a:pt x="280884" y="249869"/>
                  <a:pt x="280903" y="266735"/>
                </a:cubicBezTo>
                <a:cubicBezTo>
                  <a:pt x="280922" y="283601"/>
                  <a:pt x="294631" y="297279"/>
                  <a:pt x="311497" y="297259"/>
                </a:cubicBezTo>
                <a:cubicBezTo>
                  <a:pt x="328363" y="297240"/>
                  <a:pt x="342041" y="283531"/>
                  <a:pt x="342022" y="266665"/>
                </a:cubicBezTo>
                <a:cubicBezTo>
                  <a:pt x="342003" y="249799"/>
                  <a:pt x="328294" y="236121"/>
                  <a:pt x="311428" y="236141"/>
                </a:cubicBezTo>
                <a:close/>
                <a:moveTo>
                  <a:pt x="156200" y="-31601"/>
                </a:moveTo>
                <a:lnTo>
                  <a:pt x="174397" y="-26739"/>
                </a:lnTo>
                <a:cubicBezTo>
                  <a:pt x="182801" y="-24448"/>
                  <a:pt x="188496" y="-16530"/>
                  <a:pt x="187940" y="-7848"/>
                </a:cubicBezTo>
                <a:lnTo>
                  <a:pt x="186065" y="21183"/>
                </a:lnTo>
                <a:cubicBezTo>
                  <a:pt x="191830" y="25628"/>
                  <a:pt x="196900" y="30768"/>
                  <a:pt x="201275" y="36463"/>
                </a:cubicBezTo>
                <a:lnTo>
                  <a:pt x="230445" y="34588"/>
                </a:lnTo>
                <a:cubicBezTo>
                  <a:pt x="239127" y="34032"/>
                  <a:pt x="247045" y="39727"/>
                  <a:pt x="249337" y="48131"/>
                </a:cubicBezTo>
                <a:lnTo>
                  <a:pt x="254198" y="66328"/>
                </a:lnTo>
                <a:cubicBezTo>
                  <a:pt x="256421" y="74732"/>
                  <a:pt x="252462" y="83622"/>
                  <a:pt x="244614" y="87511"/>
                </a:cubicBezTo>
                <a:lnTo>
                  <a:pt x="218430" y="100429"/>
                </a:lnTo>
                <a:cubicBezTo>
                  <a:pt x="217944" y="103971"/>
                  <a:pt x="217249" y="107513"/>
                  <a:pt x="216346" y="110986"/>
                </a:cubicBezTo>
                <a:cubicBezTo>
                  <a:pt x="215444" y="114459"/>
                  <a:pt x="214193" y="117931"/>
                  <a:pt x="212874" y="121196"/>
                </a:cubicBezTo>
                <a:lnTo>
                  <a:pt x="229056" y="145504"/>
                </a:lnTo>
                <a:cubicBezTo>
                  <a:pt x="233918" y="152797"/>
                  <a:pt x="232946" y="162451"/>
                  <a:pt x="226764" y="168632"/>
                </a:cubicBezTo>
                <a:lnTo>
                  <a:pt x="213429" y="181967"/>
                </a:lnTo>
                <a:cubicBezTo>
                  <a:pt x="207248" y="188149"/>
                  <a:pt x="197594" y="189121"/>
                  <a:pt x="190302" y="184259"/>
                </a:cubicBezTo>
                <a:lnTo>
                  <a:pt x="165993" y="168077"/>
                </a:lnTo>
                <a:cubicBezTo>
                  <a:pt x="159395" y="170785"/>
                  <a:pt x="152380" y="172730"/>
                  <a:pt x="145226" y="173702"/>
                </a:cubicBezTo>
                <a:lnTo>
                  <a:pt x="132308" y="199817"/>
                </a:lnTo>
                <a:cubicBezTo>
                  <a:pt x="128419" y="207665"/>
                  <a:pt x="119529" y="211624"/>
                  <a:pt x="111125" y="209401"/>
                </a:cubicBezTo>
                <a:lnTo>
                  <a:pt x="92928" y="204539"/>
                </a:lnTo>
                <a:cubicBezTo>
                  <a:pt x="84455" y="202248"/>
                  <a:pt x="78829" y="194330"/>
                  <a:pt x="79385" y="185648"/>
                </a:cubicBezTo>
                <a:lnTo>
                  <a:pt x="81260" y="156547"/>
                </a:lnTo>
                <a:cubicBezTo>
                  <a:pt x="75496" y="152102"/>
                  <a:pt x="70425" y="146963"/>
                  <a:pt x="66050" y="141268"/>
                </a:cubicBezTo>
                <a:lnTo>
                  <a:pt x="36880" y="143143"/>
                </a:lnTo>
                <a:cubicBezTo>
                  <a:pt x="28198" y="143699"/>
                  <a:pt x="20280" y="138003"/>
                  <a:pt x="17988" y="129600"/>
                </a:cubicBezTo>
                <a:lnTo>
                  <a:pt x="13127" y="111403"/>
                </a:lnTo>
                <a:cubicBezTo>
                  <a:pt x="10904" y="102999"/>
                  <a:pt x="14863" y="94109"/>
                  <a:pt x="22711" y="90220"/>
                </a:cubicBezTo>
                <a:lnTo>
                  <a:pt x="48895" y="77301"/>
                </a:lnTo>
                <a:cubicBezTo>
                  <a:pt x="49381" y="73759"/>
                  <a:pt x="50076" y="70287"/>
                  <a:pt x="50979" y="66744"/>
                </a:cubicBezTo>
                <a:cubicBezTo>
                  <a:pt x="51951" y="63202"/>
                  <a:pt x="53062" y="59799"/>
                  <a:pt x="54451" y="56535"/>
                </a:cubicBezTo>
                <a:lnTo>
                  <a:pt x="38269" y="32296"/>
                </a:lnTo>
                <a:cubicBezTo>
                  <a:pt x="33407" y="25003"/>
                  <a:pt x="34379" y="15349"/>
                  <a:pt x="40561" y="9168"/>
                </a:cubicBezTo>
                <a:lnTo>
                  <a:pt x="53896" y="-4167"/>
                </a:lnTo>
                <a:cubicBezTo>
                  <a:pt x="60077" y="-10349"/>
                  <a:pt x="69731" y="-11321"/>
                  <a:pt x="77024" y="-6459"/>
                </a:cubicBezTo>
                <a:lnTo>
                  <a:pt x="101332" y="9723"/>
                </a:lnTo>
                <a:cubicBezTo>
                  <a:pt x="107930" y="7015"/>
                  <a:pt x="114945" y="5070"/>
                  <a:pt x="122099" y="4098"/>
                </a:cubicBezTo>
                <a:lnTo>
                  <a:pt x="135017" y="-22017"/>
                </a:lnTo>
                <a:cubicBezTo>
                  <a:pt x="138906" y="-29865"/>
                  <a:pt x="147727" y="-33824"/>
                  <a:pt x="156200" y="-31601"/>
                </a:cubicBezTo>
                <a:close/>
                <a:moveTo>
                  <a:pt x="133628" y="58341"/>
                </a:moveTo>
                <a:cubicBezTo>
                  <a:pt x="116762" y="58341"/>
                  <a:pt x="103068" y="72034"/>
                  <a:pt x="103068" y="88900"/>
                </a:cubicBezTo>
                <a:cubicBezTo>
                  <a:pt x="103068" y="105766"/>
                  <a:pt x="116762" y="119459"/>
                  <a:pt x="133628" y="119459"/>
                </a:cubicBezTo>
                <a:cubicBezTo>
                  <a:pt x="150494" y="119459"/>
                  <a:pt x="164187" y="105766"/>
                  <a:pt x="164187" y="88900"/>
                </a:cubicBezTo>
                <a:cubicBezTo>
                  <a:pt x="164187" y="72034"/>
                  <a:pt x="150494" y="58341"/>
                  <a:pt x="133628" y="58341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6540500" y="6096000"/>
            <a:ext cx="3683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serpentine_belt</a:t>
            </a:r>
            <a:endParaRPr b="0" i="0" sz="1600" u="none" cap="none" strike="noStrike"/>
          </a:p>
        </p:txBody>
      </p:sp>
      <p:sp>
        <p:nvSpPr>
          <p:cNvPr id="121" name="Google Shape;121;p7"/>
          <p:cNvSpPr/>
          <p:nvPr/>
        </p:nvSpPr>
        <p:spPr>
          <a:xfrm>
            <a:off x="6540500" y="6477000"/>
            <a:ext cx="3683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Liter"/>
                <a:ea typeface="Liter"/>
                <a:cs typeface="Liter"/>
                <a:sym typeface="Liter"/>
              </a:rPr>
              <a:t>Falla en la banda serpentina</a:t>
            </a:r>
            <a:endParaRPr b="0" i="0" sz="1600" u="none" cap="none" strike="noStrike"/>
          </a:p>
        </p:txBody>
      </p:sp>
      <p:sp>
        <p:nvSpPr>
          <p:cNvPr id="122" name="Google Shape;122;p7"/>
          <p:cNvSpPr/>
          <p:nvPr/>
        </p:nvSpPr>
        <p:spPr>
          <a:xfrm>
            <a:off x="10795000" y="5842000"/>
            <a:ext cx="4699000" cy="13970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11004550" y="6159500"/>
            <a:ext cx="444500" cy="355600"/>
          </a:xfrm>
          <a:custGeom>
            <a:rect b="b" l="l" r="r" t="t"/>
            <a:pathLst>
              <a:path extrusionOk="0" h="355600" w="444500">
                <a:moveTo>
                  <a:pt x="161131" y="11182"/>
                </a:moveTo>
                <a:lnTo>
                  <a:pt x="161131" y="-22156"/>
                </a:lnTo>
                <a:cubicBezTo>
                  <a:pt x="161131" y="-31393"/>
                  <a:pt x="153700" y="-38824"/>
                  <a:pt x="144463" y="-38824"/>
                </a:cubicBezTo>
                <a:cubicBezTo>
                  <a:pt x="135225" y="-38824"/>
                  <a:pt x="127794" y="-31393"/>
                  <a:pt x="127794" y="-22156"/>
                </a:cubicBezTo>
                <a:lnTo>
                  <a:pt x="127794" y="11182"/>
                </a:lnTo>
                <a:cubicBezTo>
                  <a:pt x="127794" y="20419"/>
                  <a:pt x="135225" y="27851"/>
                  <a:pt x="144463" y="27851"/>
                </a:cubicBezTo>
                <a:cubicBezTo>
                  <a:pt x="153700" y="27851"/>
                  <a:pt x="161131" y="20419"/>
                  <a:pt x="161131" y="11182"/>
                </a:cubicBezTo>
                <a:close/>
                <a:moveTo>
                  <a:pt x="22225" y="116751"/>
                </a:moveTo>
                <a:lnTo>
                  <a:pt x="55563" y="116751"/>
                </a:lnTo>
                <a:cubicBezTo>
                  <a:pt x="64800" y="116751"/>
                  <a:pt x="72231" y="109319"/>
                  <a:pt x="72231" y="100082"/>
                </a:cubicBezTo>
                <a:cubicBezTo>
                  <a:pt x="72231" y="90845"/>
                  <a:pt x="64800" y="83413"/>
                  <a:pt x="55563" y="83413"/>
                </a:cubicBezTo>
                <a:lnTo>
                  <a:pt x="22225" y="83413"/>
                </a:lnTo>
                <a:cubicBezTo>
                  <a:pt x="12988" y="83413"/>
                  <a:pt x="5556" y="90845"/>
                  <a:pt x="5556" y="100082"/>
                </a:cubicBezTo>
                <a:cubicBezTo>
                  <a:pt x="5556" y="109319"/>
                  <a:pt x="12988" y="116751"/>
                  <a:pt x="22225" y="116751"/>
                </a:cubicBezTo>
                <a:close/>
                <a:moveTo>
                  <a:pt x="195511" y="49034"/>
                </a:moveTo>
                <a:cubicBezTo>
                  <a:pt x="202039" y="55563"/>
                  <a:pt x="212596" y="55563"/>
                  <a:pt x="219055" y="49034"/>
                </a:cubicBezTo>
                <a:lnTo>
                  <a:pt x="242600" y="25489"/>
                </a:lnTo>
                <a:cubicBezTo>
                  <a:pt x="249128" y="18961"/>
                  <a:pt x="249128" y="8404"/>
                  <a:pt x="242600" y="1945"/>
                </a:cubicBezTo>
                <a:cubicBezTo>
                  <a:pt x="236071" y="-4514"/>
                  <a:pt x="225514" y="-4584"/>
                  <a:pt x="219055" y="1945"/>
                </a:cubicBezTo>
                <a:lnTo>
                  <a:pt x="195511" y="25420"/>
                </a:lnTo>
                <a:cubicBezTo>
                  <a:pt x="188982" y="31948"/>
                  <a:pt x="188982" y="42505"/>
                  <a:pt x="195511" y="48964"/>
                </a:cubicBezTo>
                <a:close/>
                <a:moveTo>
                  <a:pt x="69800" y="198358"/>
                </a:moveTo>
                <a:lnTo>
                  <a:pt x="93345" y="174814"/>
                </a:lnTo>
                <a:cubicBezTo>
                  <a:pt x="99874" y="168285"/>
                  <a:pt x="99874" y="157728"/>
                  <a:pt x="93345" y="151269"/>
                </a:cubicBezTo>
                <a:cubicBezTo>
                  <a:pt x="86816" y="144810"/>
                  <a:pt x="76260" y="144740"/>
                  <a:pt x="69800" y="151269"/>
                </a:cubicBezTo>
                <a:lnTo>
                  <a:pt x="46256" y="174744"/>
                </a:lnTo>
                <a:cubicBezTo>
                  <a:pt x="39727" y="181273"/>
                  <a:pt x="39727" y="191830"/>
                  <a:pt x="46256" y="198289"/>
                </a:cubicBezTo>
                <a:cubicBezTo>
                  <a:pt x="52784" y="204748"/>
                  <a:pt x="63341" y="204817"/>
                  <a:pt x="69800" y="198289"/>
                </a:cubicBezTo>
                <a:close/>
                <a:moveTo>
                  <a:pt x="46256" y="1875"/>
                </a:moveTo>
                <a:cubicBezTo>
                  <a:pt x="39727" y="8404"/>
                  <a:pt x="39727" y="18961"/>
                  <a:pt x="46256" y="25420"/>
                </a:cubicBezTo>
                <a:lnTo>
                  <a:pt x="69800" y="48964"/>
                </a:lnTo>
                <a:cubicBezTo>
                  <a:pt x="76329" y="55493"/>
                  <a:pt x="86886" y="55493"/>
                  <a:pt x="93345" y="48964"/>
                </a:cubicBezTo>
                <a:cubicBezTo>
                  <a:pt x="99804" y="42436"/>
                  <a:pt x="99874" y="31879"/>
                  <a:pt x="93345" y="25420"/>
                </a:cubicBezTo>
                <a:lnTo>
                  <a:pt x="69800" y="1875"/>
                </a:lnTo>
                <a:cubicBezTo>
                  <a:pt x="63272" y="-4653"/>
                  <a:pt x="52784" y="-4653"/>
                  <a:pt x="46256" y="1875"/>
                </a:cubicBezTo>
                <a:close/>
                <a:moveTo>
                  <a:pt x="245100" y="121821"/>
                </a:moveTo>
                <a:lnTo>
                  <a:pt x="350738" y="150158"/>
                </a:lnTo>
                <a:cubicBezTo>
                  <a:pt x="355183" y="151338"/>
                  <a:pt x="358448" y="155228"/>
                  <a:pt x="358934" y="159812"/>
                </a:cubicBezTo>
                <a:lnTo>
                  <a:pt x="363934" y="211207"/>
                </a:lnTo>
                <a:lnTo>
                  <a:pt x="203150" y="168146"/>
                </a:lnTo>
                <a:lnTo>
                  <a:pt x="233154" y="126127"/>
                </a:lnTo>
                <a:cubicBezTo>
                  <a:pt x="235863" y="122376"/>
                  <a:pt x="240586" y="120640"/>
                  <a:pt x="245100" y="121821"/>
                </a:cubicBezTo>
                <a:close/>
                <a:moveTo>
                  <a:pt x="155297" y="158700"/>
                </a:moveTo>
                <a:lnTo>
                  <a:pt x="153839" y="160715"/>
                </a:lnTo>
                <a:cubicBezTo>
                  <a:pt x="138767" y="164534"/>
                  <a:pt x="126127" y="176203"/>
                  <a:pt x="121821" y="192316"/>
                </a:cubicBezTo>
                <a:cubicBezTo>
                  <a:pt x="118973" y="203081"/>
                  <a:pt x="113209" y="224542"/>
                  <a:pt x="104596" y="256699"/>
                </a:cubicBezTo>
                <a:lnTo>
                  <a:pt x="98832" y="278160"/>
                </a:lnTo>
                <a:cubicBezTo>
                  <a:pt x="95637" y="290036"/>
                  <a:pt x="102721" y="302191"/>
                  <a:pt x="114528" y="305385"/>
                </a:cubicBezTo>
                <a:lnTo>
                  <a:pt x="125293" y="308233"/>
                </a:lnTo>
                <a:cubicBezTo>
                  <a:pt x="137170" y="311428"/>
                  <a:pt x="149324" y="304344"/>
                  <a:pt x="152519" y="292537"/>
                </a:cubicBezTo>
                <a:lnTo>
                  <a:pt x="158284" y="271076"/>
                </a:lnTo>
                <a:lnTo>
                  <a:pt x="351502" y="322818"/>
                </a:lnTo>
                <a:lnTo>
                  <a:pt x="345738" y="344279"/>
                </a:lnTo>
                <a:cubicBezTo>
                  <a:pt x="342543" y="356156"/>
                  <a:pt x="349627" y="368310"/>
                  <a:pt x="361434" y="371505"/>
                </a:cubicBezTo>
                <a:lnTo>
                  <a:pt x="372199" y="374352"/>
                </a:lnTo>
                <a:cubicBezTo>
                  <a:pt x="384076" y="377547"/>
                  <a:pt x="396230" y="370463"/>
                  <a:pt x="399425" y="358656"/>
                </a:cubicBezTo>
                <a:cubicBezTo>
                  <a:pt x="402273" y="347891"/>
                  <a:pt x="408037" y="326430"/>
                  <a:pt x="416649" y="294273"/>
                </a:cubicBezTo>
                <a:lnTo>
                  <a:pt x="422414" y="272812"/>
                </a:lnTo>
                <a:cubicBezTo>
                  <a:pt x="426720" y="256699"/>
                  <a:pt x="421650" y="240308"/>
                  <a:pt x="410468" y="229404"/>
                </a:cubicBezTo>
                <a:lnTo>
                  <a:pt x="410260" y="226903"/>
                </a:lnTo>
                <a:lnTo>
                  <a:pt x="403314" y="155367"/>
                </a:lnTo>
                <a:cubicBezTo>
                  <a:pt x="401092" y="132308"/>
                  <a:pt x="384770" y="113070"/>
                  <a:pt x="362406" y="107097"/>
                </a:cubicBezTo>
                <a:lnTo>
                  <a:pt x="256629" y="78899"/>
                </a:lnTo>
                <a:cubicBezTo>
                  <a:pt x="234265" y="72926"/>
                  <a:pt x="210512" y="81399"/>
                  <a:pt x="197039" y="100290"/>
                </a:cubicBezTo>
                <a:lnTo>
                  <a:pt x="155228" y="158770"/>
                </a:lnTo>
                <a:close/>
                <a:moveTo>
                  <a:pt x="189121" y="198844"/>
                </a:moveTo>
                <a:cubicBezTo>
                  <a:pt x="196911" y="200795"/>
                  <a:pt x="203044" y="206796"/>
                  <a:pt x="205162" y="214543"/>
                </a:cubicBezTo>
                <a:cubicBezTo>
                  <a:pt x="207280" y="222289"/>
                  <a:pt x="205054" y="230576"/>
                  <a:pt x="199339" y="236218"/>
                </a:cubicBezTo>
                <a:cubicBezTo>
                  <a:pt x="193625" y="241861"/>
                  <a:pt x="185311" y="243982"/>
                  <a:pt x="177592" y="241766"/>
                </a:cubicBezTo>
                <a:cubicBezTo>
                  <a:pt x="169801" y="239816"/>
                  <a:pt x="163669" y="233815"/>
                  <a:pt x="161551" y="226068"/>
                </a:cubicBezTo>
                <a:cubicBezTo>
                  <a:pt x="159433" y="218322"/>
                  <a:pt x="161659" y="210035"/>
                  <a:pt x="167373" y="204392"/>
                </a:cubicBezTo>
                <a:cubicBezTo>
                  <a:pt x="173088" y="198749"/>
                  <a:pt x="181402" y="196629"/>
                  <a:pt x="189121" y="198844"/>
                </a:cubicBezTo>
                <a:close/>
                <a:moveTo>
                  <a:pt x="333653" y="260588"/>
                </a:moveTo>
                <a:cubicBezTo>
                  <a:pt x="335603" y="252798"/>
                  <a:pt x="341604" y="246665"/>
                  <a:pt x="349351" y="244547"/>
                </a:cubicBezTo>
                <a:cubicBezTo>
                  <a:pt x="357098" y="242429"/>
                  <a:pt x="365384" y="244655"/>
                  <a:pt x="371027" y="250370"/>
                </a:cubicBezTo>
                <a:cubicBezTo>
                  <a:pt x="376670" y="256084"/>
                  <a:pt x="378791" y="264398"/>
                  <a:pt x="376575" y="272117"/>
                </a:cubicBezTo>
                <a:cubicBezTo>
                  <a:pt x="374625" y="279908"/>
                  <a:pt x="368623" y="286040"/>
                  <a:pt x="360877" y="288158"/>
                </a:cubicBezTo>
                <a:cubicBezTo>
                  <a:pt x="353130" y="290276"/>
                  <a:pt x="344843" y="288050"/>
                  <a:pt x="339201" y="282336"/>
                </a:cubicBezTo>
                <a:cubicBezTo>
                  <a:pt x="333558" y="276621"/>
                  <a:pt x="331437" y="268307"/>
                  <a:pt x="333653" y="260588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11557000" y="6096000"/>
            <a:ext cx="3683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worn_out_brakes</a:t>
            </a:r>
            <a:endParaRPr b="0" i="0" sz="1600" u="none" cap="none" strike="noStrike"/>
          </a:p>
        </p:txBody>
      </p:sp>
      <p:sp>
        <p:nvSpPr>
          <p:cNvPr id="125" name="Google Shape;125;p7"/>
          <p:cNvSpPr/>
          <p:nvPr/>
        </p:nvSpPr>
        <p:spPr>
          <a:xfrm>
            <a:off x="11557000" y="6477000"/>
            <a:ext cx="3683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Liter"/>
                <a:ea typeface="Liter"/>
                <a:cs typeface="Liter"/>
                <a:sym typeface="Liter"/>
              </a:rPr>
              <a:t>Frenos desgastados</a:t>
            </a:r>
            <a:endParaRPr b="0" i="0" sz="1600" u="none" cap="none" strike="noStrike"/>
          </a:p>
        </p:txBody>
      </p:sp>
      <p:sp>
        <p:nvSpPr>
          <p:cNvPr id="126" name="Google Shape;126;p7"/>
          <p:cNvSpPr/>
          <p:nvPr/>
        </p:nvSpPr>
        <p:spPr>
          <a:xfrm>
            <a:off x="762000" y="7620000"/>
            <a:ext cx="152400" cy="152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1016000" y="75692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Liter"/>
                <a:ea typeface="Liter"/>
                <a:cs typeface="Liter"/>
                <a:sym typeface="Liter"/>
              </a:rPr>
              <a:t>Estado normal</a:t>
            </a:r>
            <a:endParaRPr b="0" i="0" sz="1600" u="none" cap="none" strike="noStrike"/>
          </a:p>
        </p:txBody>
      </p:sp>
      <p:sp>
        <p:nvSpPr>
          <p:cNvPr id="128" name="Google Shape;128;p7"/>
          <p:cNvSpPr/>
          <p:nvPr/>
        </p:nvSpPr>
        <p:spPr>
          <a:xfrm>
            <a:off x="2540000" y="7620000"/>
            <a:ext cx="152400" cy="152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2794000" y="75692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Liter"/>
                <a:ea typeface="Liter"/>
                <a:cs typeface="Liter"/>
                <a:sym typeface="Liter"/>
              </a:rPr>
              <a:t>Falla detectada</a:t>
            </a:r>
            <a:endParaRPr b="0" i="0" sz="1600" u="none" cap="none" strike="noStrike"/>
          </a:p>
        </p:txBody>
      </p:sp>
      <p:sp>
        <p:nvSpPr>
          <p:cNvPr id="130" name="Google Shape;130;p7"/>
          <p:cNvSpPr/>
          <p:nvPr/>
        </p:nvSpPr>
        <p:spPr>
          <a:xfrm>
            <a:off x="762000" y="8128000"/>
            <a:ext cx="1473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Liter"/>
                <a:ea typeface="Liter"/>
                <a:cs typeface="Liter"/>
                <a:sym typeface="Liter"/>
              </a:rPr>
              <a:t>Señales procesadas con extracción de características espectrales (MFCC, espectrogramas) para alimentar la red neuronal.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Liter"/>
                <a:ea typeface="Liter"/>
                <a:cs typeface="Liter"/>
                <a:sym typeface="Liter"/>
              </a:rPr>
              <a:t>05</a:t>
            </a:r>
            <a:endParaRPr b="0" i="0" sz="1400" u="none" cap="none" strike="noStrike"/>
          </a:p>
        </p:txBody>
      </p:sp>
      <p:sp>
        <p:nvSpPr>
          <p:cNvPr id="138" name="Google Shape;138;p8"/>
          <p:cNvSpPr/>
          <p:nvPr/>
        </p:nvSpPr>
        <p:spPr>
          <a:xfrm>
            <a:off x="4318000" y="4000500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10B981"/>
                </a:solidFill>
                <a:latin typeface="Liter"/>
                <a:ea typeface="Liter"/>
                <a:cs typeface="Liter"/>
                <a:sym typeface="Liter"/>
              </a:rPr>
              <a:t>DEMO</a:t>
            </a:r>
            <a:endParaRPr b="0" i="0" sz="3200" u="none" cap="none" strike="noStrike"/>
          </a:p>
        </p:txBody>
      </p:sp>
      <p:sp>
        <p:nvSpPr>
          <p:cNvPr id="139" name="Google Shape;139;p8"/>
          <p:cNvSpPr/>
          <p:nvPr/>
        </p:nvSpPr>
        <p:spPr>
          <a:xfrm>
            <a:off x="12746098" y="857148"/>
            <a:ext cx="3175083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/>
          <p:nvPr/>
        </p:nvSpPr>
        <p:spPr>
          <a:xfrm>
            <a:off x="0" y="0"/>
            <a:ext cx="162561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"/>
          <p:cNvSpPr/>
          <p:nvPr/>
        </p:nvSpPr>
        <p:spPr>
          <a:xfrm>
            <a:off x="14986000" y="8636000"/>
            <a:ext cx="762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Liter"/>
                <a:ea typeface="Liter"/>
                <a:cs typeface="Liter"/>
                <a:sym typeface="Liter"/>
              </a:rPr>
              <a:t>05</a:t>
            </a:r>
            <a:endParaRPr b="0" i="0" sz="1400" u="none" cap="none" strike="noStrike"/>
          </a:p>
        </p:txBody>
      </p:sp>
      <p:sp>
        <p:nvSpPr>
          <p:cNvPr id="147" name="Google Shape;147;p9"/>
          <p:cNvSpPr/>
          <p:nvPr/>
        </p:nvSpPr>
        <p:spPr>
          <a:xfrm>
            <a:off x="12746098" y="857148"/>
            <a:ext cx="31752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</a:t>
            </a:r>
            <a:endParaRPr b="0" i="0" sz="1600" u="none" cap="none" strike="noStrike"/>
          </a:p>
        </p:txBody>
      </p:sp>
      <p:pic>
        <p:nvPicPr>
          <p:cNvPr id="148" name="Google Shape;148;p9" title="IMG_1273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71975" y="479987"/>
            <a:ext cx="10912050" cy="818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"/>
          <p:cNvSpPr/>
          <p:nvPr/>
        </p:nvSpPr>
        <p:spPr>
          <a:xfrm>
            <a:off x="728409" y="1689100"/>
            <a:ext cx="15113396" cy="6798859"/>
          </a:xfrm>
          <a:prstGeom prst="roundRect">
            <a:avLst>
              <a:gd fmla="val 16667" name="adj"/>
            </a:avLst>
          </a:prstGeom>
          <a:solidFill>
            <a:srgbClr val="2F4422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0"/>
          <p:cNvSpPr/>
          <p:nvPr/>
        </p:nvSpPr>
        <p:spPr>
          <a:xfrm>
            <a:off x="762000" y="2794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Liter"/>
                <a:ea typeface="Liter"/>
                <a:cs typeface="Liter"/>
                <a:sym typeface="Liter"/>
              </a:rPr>
              <a:t>EN-RUUMBIZA</a:t>
            </a:r>
            <a:endParaRPr b="0" i="0" sz="1600" u="none" cap="none" strike="noStrike"/>
          </a:p>
        </p:txBody>
      </p:sp>
      <p:sp>
        <p:nvSpPr>
          <p:cNvPr id="157" name="Google Shape;157;p10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Liter"/>
                <a:ea typeface="Liter"/>
                <a:cs typeface="Liter"/>
                <a:sym typeface="Liter"/>
              </a:rPr>
              <a:t>05</a:t>
            </a:r>
            <a:endParaRPr b="0" i="0" sz="1400" u="none" cap="none" strike="noStrike"/>
          </a:p>
        </p:txBody>
      </p:sp>
      <p:sp>
        <p:nvSpPr>
          <p:cNvPr id="158" name="Google Shape;158;p10"/>
          <p:cNvSpPr/>
          <p:nvPr/>
        </p:nvSpPr>
        <p:spPr>
          <a:xfrm>
            <a:off x="762000" y="762000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0B981"/>
                </a:solidFill>
                <a:latin typeface="Liter"/>
                <a:ea typeface="Liter"/>
                <a:cs typeface="Liter"/>
                <a:sym typeface="Liter"/>
              </a:rPr>
              <a:t>ESCALABILIDAD</a:t>
            </a:r>
            <a:endParaRPr b="0" i="0" sz="3200" u="none" cap="none" strike="noStrike"/>
          </a:p>
        </p:txBody>
      </p:sp>
      <p:sp>
        <p:nvSpPr>
          <p:cNvPr id="159" name="Google Shape;159;p10"/>
          <p:cNvSpPr/>
          <p:nvPr/>
        </p:nvSpPr>
        <p:spPr>
          <a:xfrm>
            <a:off x="762000" y="1397000"/>
            <a:ext cx="1016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0"/>
          <p:cNvSpPr/>
          <p:nvPr/>
        </p:nvSpPr>
        <p:spPr>
          <a:xfrm>
            <a:off x="12746098" y="857148"/>
            <a:ext cx="3175083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</a:t>
            </a:r>
            <a:endParaRPr b="0" i="0" sz="1600" u="none" cap="none" strike="noStrike"/>
          </a:p>
        </p:txBody>
      </p:sp>
      <p:pic>
        <p:nvPicPr>
          <p:cNvPr descr="https://kimi-img.moonshot.cn/pub/slides/26-05-17-22:22:53-d84sufdr1r8smn7qno3g.png" id="161" name="Google Shape;161;p10"/>
          <p:cNvPicPr preferRelativeResize="0"/>
          <p:nvPr/>
        </p:nvPicPr>
        <p:blipFill rotWithShape="1">
          <a:blip r:embed="rId3">
            <a:alphaModFix/>
          </a:blip>
          <a:srcRect b="1818" l="0" r="0" t="7273"/>
          <a:stretch/>
        </p:blipFill>
        <p:spPr>
          <a:xfrm>
            <a:off x="3397251" y="2475228"/>
            <a:ext cx="9775712" cy="5226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img.moonshot.cn/pub/slides/okc/2qgzlpigh4kku/mnt/agents/output/auto-diagnosis/images/4_Close_Up_View_of_Car_Engine_on_Dark.png" id="167" name="Google Shape;167;p11"/>
          <p:cNvPicPr preferRelativeResize="0"/>
          <p:nvPr/>
        </p:nvPicPr>
        <p:blipFill rotWithShape="1">
          <a:blip r:embed="rId3">
            <a:alphaModFix/>
          </a:blip>
          <a:srcRect b="0" l="111" r="111" t="0"/>
          <a:stretch/>
        </p:blipFill>
        <p:spPr>
          <a:xfrm>
            <a:off x="0" y="0"/>
            <a:ext cx="16256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>
            <a:gsLst>
              <a:gs pos="0">
                <a:srgbClr val="0A0A0F">
                  <a:alpha val="27058"/>
                </a:srgbClr>
              </a:gs>
              <a:gs pos="35000">
                <a:srgbClr val="0A0A0F">
                  <a:alpha val="80000"/>
                </a:srgbClr>
              </a:gs>
              <a:gs pos="100000">
                <a:srgbClr val="0A0A0F"/>
              </a:gs>
            </a:gsLst>
            <a:lin ang="5400000" scaled="0"/>
          </a:gra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1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1"/>
          <p:cNvSpPr/>
          <p:nvPr/>
        </p:nvSpPr>
        <p:spPr>
          <a:xfrm>
            <a:off x="5588000" y="27940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Liter"/>
                <a:ea typeface="Liter"/>
                <a:cs typeface="Liter"/>
                <a:sym typeface="Liter"/>
              </a:rPr>
              <a:t>AUTODIAGNOSIS AI</a:t>
            </a:r>
            <a:endParaRPr b="0" i="0" sz="1600" u="none" cap="none" strike="noStrike"/>
          </a:p>
        </p:txBody>
      </p:sp>
      <p:sp>
        <p:nvSpPr>
          <p:cNvPr id="171" name="Google Shape;171;p11"/>
          <p:cNvSpPr/>
          <p:nvPr/>
        </p:nvSpPr>
        <p:spPr>
          <a:xfrm>
            <a:off x="3048000" y="3429000"/>
            <a:ext cx="101600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00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GRACIAS</a:t>
            </a:r>
            <a:endParaRPr b="0" i="0" sz="5200" u="none" cap="none" strike="noStrike"/>
          </a:p>
        </p:txBody>
      </p:sp>
      <p:sp>
        <p:nvSpPr>
          <p:cNvPr id="172" name="Google Shape;172;p11"/>
          <p:cNvSpPr/>
          <p:nvPr/>
        </p:nvSpPr>
        <p:spPr>
          <a:xfrm>
            <a:off x="6223000" y="4572000"/>
            <a:ext cx="3810000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1"/>
          <p:cNvSpPr/>
          <p:nvPr/>
        </p:nvSpPr>
        <p:spPr>
          <a:xfrm>
            <a:off x="3048000" y="4953000"/>
            <a:ext cx="1016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Escucha el motor. Detecta la falla. Previene el daño.</a:t>
            </a:r>
            <a:endParaRPr b="0" i="0" sz="2200" u="none" cap="none" strike="noStrike"/>
          </a:p>
        </p:txBody>
      </p:sp>
      <p:sp>
        <p:nvSpPr>
          <p:cNvPr id="174" name="Google Shape;174;p11"/>
          <p:cNvSpPr/>
          <p:nvPr/>
        </p:nvSpPr>
        <p:spPr>
          <a:xfrm>
            <a:off x="5715000" y="6350000"/>
            <a:ext cx="508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Liter"/>
                <a:ea typeface="Liter"/>
                <a:cs typeface="Liter"/>
                <a:sym typeface="Liter"/>
              </a:rPr>
              <a:t>EN-RUUMBIZA</a:t>
            </a:r>
            <a:endParaRPr b="0" i="0" sz="1600" u="none" cap="none" strike="noStrike"/>
          </a:p>
        </p:txBody>
      </p:sp>
      <p:sp>
        <p:nvSpPr>
          <p:cNvPr id="175" name="Google Shape;175;p11"/>
          <p:cNvSpPr/>
          <p:nvPr/>
        </p:nvSpPr>
        <p:spPr>
          <a:xfrm>
            <a:off x="7223125" y="6985000"/>
            <a:ext cx="285750" cy="381000"/>
          </a:xfrm>
          <a:custGeom>
            <a:rect b="b" l="l" r="r" t="t"/>
            <a:pathLst>
              <a:path extrusionOk="0" h="381000" w="285750">
                <a:moveTo>
                  <a:pt x="142875" y="0"/>
                </a:moveTo>
                <a:cubicBezTo>
                  <a:pt x="103436" y="0"/>
                  <a:pt x="71438" y="31998"/>
                  <a:pt x="71438" y="71438"/>
                </a:cubicBezTo>
                <a:lnTo>
                  <a:pt x="71438" y="166688"/>
                </a:lnTo>
                <a:cubicBezTo>
                  <a:pt x="71438" y="206127"/>
                  <a:pt x="103436" y="238125"/>
                  <a:pt x="142875" y="238125"/>
                </a:cubicBezTo>
                <a:cubicBezTo>
                  <a:pt x="182314" y="238125"/>
                  <a:pt x="214313" y="206127"/>
                  <a:pt x="214313" y="166688"/>
                </a:cubicBezTo>
                <a:lnTo>
                  <a:pt x="214313" y="71438"/>
                </a:lnTo>
                <a:cubicBezTo>
                  <a:pt x="214313" y="31998"/>
                  <a:pt x="182314" y="0"/>
                  <a:pt x="142875" y="0"/>
                </a:cubicBezTo>
                <a:close/>
                <a:moveTo>
                  <a:pt x="35719" y="136922"/>
                </a:moveTo>
                <a:cubicBezTo>
                  <a:pt x="35719" y="127025"/>
                  <a:pt x="27756" y="119063"/>
                  <a:pt x="17859" y="119063"/>
                </a:cubicBezTo>
                <a:cubicBezTo>
                  <a:pt x="7962" y="119063"/>
                  <a:pt x="0" y="127025"/>
                  <a:pt x="0" y="136922"/>
                </a:cubicBezTo>
                <a:lnTo>
                  <a:pt x="0" y="166688"/>
                </a:lnTo>
                <a:cubicBezTo>
                  <a:pt x="0" y="239539"/>
                  <a:pt x="54546" y="299665"/>
                  <a:pt x="125016" y="308446"/>
                </a:cubicBezTo>
                <a:lnTo>
                  <a:pt x="125016" y="345281"/>
                </a:lnTo>
                <a:lnTo>
                  <a:pt x="89297" y="345281"/>
                </a:lnTo>
                <a:cubicBezTo>
                  <a:pt x="79400" y="345281"/>
                  <a:pt x="71438" y="353244"/>
                  <a:pt x="71438" y="363141"/>
                </a:cubicBezTo>
                <a:cubicBezTo>
                  <a:pt x="71438" y="373038"/>
                  <a:pt x="79400" y="381000"/>
                  <a:pt x="89297" y="381000"/>
                </a:cubicBezTo>
                <a:lnTo>
                  <a:pt x="196453" y="381000"/>
                </a:lnTo>
                <a:cubicBezTo>
                  <a:pt x="206350" y="381000"/>
                  <a:pt x="214313" y="373038"/>
                  <a:pt x="214313" y="363141"/>
                </a:cubicBezTo>
                <a:cubicBezTo>
                  <a:pt x="214313" y="353244"/>
                  <a:pt x="206350" y="345281"/>
                  <a:pt x="196453" y="345281"/>
                </a:cubicBezTo>
                <a:lnTo>
                  <a:pt x="160734" y="345281"/>
                </a:lnTo>
                <a:lnTo>
                  <a:pt x="160734" y="308446"/>
                </a:lnTo>
                <a:cubicBezTo>
                  <a:pt x="231204" y="299665"/>
                  <a:pt x="285750" y="239539"/>
                  <a:pt x="285750" y="166688"/>
                </a:cubicBezTo>
                <a:lnTo>
                  <a:pt x="285750" y="136922"/>
                </a:lnTo>
                <a:cubicBezTo>
                  <a:pt x="285750" y="127025"/>
                  <a:pt x="277788" y="119063"/>
                  <a:pt x="267891" y="119063"/>
                </a:cubicBezTo>
                <a:cubicBezTo>
                  <a:pt x="257994" y="119063"/>
                  <a:pt x="250031" y="127025"/>
                  <a:pt x="250031" y="136922"/>
                </a:cubicBezTo>
                <a:lnTo>
                  <a:pt x="250031" y="166688"/>
                </a:lnTo>
                <a:cubicBezTo>
                  <a:pt x="250031" y="225847"/>
                  <a:pt x="202034" y="273844"/>
                  <a:pt x="142875" y="273844"/>
                </a:cubicBezTo>
                <a:cubicBezTo>
                  <a:pt x="83716" y="273844"/>
                  <a:pt x="35719" y="225847"/>
                  <a:pt x="35719" y="166688"/>
                </a:cubicBezTo>
                <a:lnTo>
                  <a:pt x="35719" y="136922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1"/>
          <p:cNvSpPr/>
          <p:nvPr/>
        </p:nvSpPr>
        <p:spPr>
          <a:xfrm>
            <a:off x="7620000" y="6985000"/>
            <a:ext cx="381000" cy="381000"/>
          </a:xfrm>
          <a:custGeom>
            <a:rect b="b" l="l" r="r" t="t"/>
            <a:pathLst>
              <a:path extrusionOk="0" h="381000" w="381000">
                <a:moveTo>
                  <a:pt x="374005" y="207318"/>
                </a:moveTo>
                <a:cubicBezTo>
                  <a:pt x="383307" y="198016"/>
                  <a:pt x="383307" y="182910"/>
                  <a:pt x="374005" y="173608"/>
                </a:cubicBezTo>
                <a:lnTo>
                  <a:pt x="254943" y="54546"/>
                </a:lnTo>
                <a:cubicBezTo>
                  <a:pt x="245641" y="45244"/>
                  <a:pt x="230535" y="45244"/>
                  <a:pt x="221233" y="54546"/>
                </a:cubicBezTo>
                <a:cubicBezTo>
                  <a:pt x="211931" y="63847"/>
                  <a:pt x="211931" y="78953"/>
                  <a:pt x="221233" y="88255"/>
                </a:cubicBezTo>
                <a:lnTo>
                  <a:pt x="299665" y="166688"/>
                </a:lnTo>
                <a:lnTo>
                  <a:pt x="23812" y="166688"/>
                </a:lnTo>
                <a:cubicBezTo>
                  <a:pt x="10641" y="166688"/>
                  <a:pt x="0" y="177329"/>
                  <a:pt x="0" y="190500"/>
                </a:cubicBezTo>
                <a:cubicBezTo>
                  <a:pt x="0" y="203671"/>
                  <a:pt x="10641" y="214313"/>
                  <a:pt x="23812" y="214313"/>
                </a:cubicBezTo>
                <a:lnTo>
                  <a:pt x="299665" y="214313"/>
                </a:lnTo>
                <a:lnTo>
                  <a:pt x="221233" y="292745"/>
                </a:lnTo>
                <a:cubicBezTo>
                  <a:pt x="211931" y="302047"/>
                  <a:pt x="211931" y="317153"/>
                  <a:pt x="221233" y="326454"/>
                </a:cubicBezTo>
                <a:cubicBezTo>
                  <a:pt x="230535" y="335756"/>
                  <a:pt x="245641" y="335756"/>
                  <a:pt x="254943" y="326454"/>
                </a:cubicBezTo>
                <a:lnTo>
                  <a:pt x="374005" y="207392"/>
                </a:lnTo>
                <a:close/>
              </a:path>
            </a:pathLst>
          </a:custGeom>
          <a:solidFill>
            <a:srgbClr val="6474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1"/>
          <p:cNvSpPr/>
          <p:nvPr/>
        </p:nvSpPr>
        <p:spPr>
          <a:xfrm>
            <a:off x="8064500" y="6985000"/>
            <a:ext cx="381000" cy="381000"/>
          </a:xfrm>
          <a:custGeom>
            <a:rect b="b" l="l" r="r" t="t"/>
            <a:pathLst>
              <a:path extrusionOk="0" h="381000" w="381000">
                <a:moveTo>
                  <a:pt x="89297" y="41672"/>
                </a:moveTo>
                <a:cubicBezTo>
                  <a:pt x="89297" y="18678"/>
                  <a:pt x="107975" y="0"/>
                  <a:pt x="130969" y="0"/>
                </a:cubicBezTo>
                <a:lnTo>
                  <a:pt x="148828" y="0"/>
                </a:lnTo>
                <a:cubicBezTo>
                  <a:pt x="161999" y="0"/>
                  <a:pt x="172641" y="10641"/>
                  <a:pt x="172641" y="23812"/>
                </a:cubicBezTo>
                <a:lnTo>
                  <a:pt x="172641" y="357188"/>
                </a:lnTo>
                <a:cubicBezTo>
                  <a:pt x="172641" y="370359"/>
                  <a:pt x="161999" y="381000"/>
                  <a:pt x="148828" y="381000"/>
                </a:cubicBezTo>
                <a:lnTo>
                  <a:pt x="125016" y="381000"/>
                </a:lnTo>
                <a:cubicBezTo>
                  <a:pt x="102840" y="381000"/>
                  <a:pt x="84162" y="365820"/>
                  <a:pt x="78879" y="345281"/>
                </a:cubicBezTo>
                <a:cubicBezTo>
                  <a:pt x="78358" y="345281"/>
                  <a:pt x="77912" y="345281"/>
                  <a:pt x="77391" y="345281"/>
                </a:cubicBezTo>
                <a:cubicBezTo>
                  <a:pt x="44500" y="345281"/>
                  <a:pt x="17859" y="318641"/>
                  <a:pt x="17859" y="285750"/>
                </a:cubicBezTo>
                <a:cubicBezTo>
                  <a:pt x="17859" y="272355"/>
                  <a:pt x="22324" y="260003"/>
                  <a:pt x="29766" y="250031"/>
                </a:cubicBezTo>
                <a:cubicBezTo>
                  <a:pt x="15329" y="239167"/>
                  <a:pt x="5953" y="221903"/>
                  <a:pt x="5953" y="202406"/>
                </a:cubicBezTo>
                <a:cubicBezTo>
                  <a:pt x="5953" y="179412"/>
                  <a:pt x="19050" y="159395"/>
                  <a:pt x="38100" y="149498"/>
                </a:cubicBezTo>
                <a:cubicBezTo>
                  <a:pt x="32817" y="140568"/>
                  <a:pt x="29766" y="130150"/>
                  <a:pt x="29766" y="119063"/>
                </a:cubicBezTo>
                <a:cubicBezTo>
                  <a:pt x="29766" y="86171"/>
                  <a:pt x="56406" y="59531"/>
                  <a:pt x="89297" y="59531"/>
                </a:cubicBezTo>
                <a:lnTo>
                  <a:pt x="89297" y="41672"/>
                </a:lnTo>
                <a:close/>
                <a:moveTo>
                  <a:pt x="291703" y="41672"/>
                </a:moveTo>
                <a:lnTo>
                  <a:pt x="291703" y="59531"/>
                </a:lnTo>
                <a:cubicBezTo>
                  <a:pt x="324594" y="59531"/>
                  <a:pt x="351234" y="86171"/>
                  <a:pt x="351234" y="119063"/>
                </a:cubicBezTo>
                <a:cubicBezTo>
                  <a:pt x="351234" y="130225"/>
                  <a:pt x="348183" y="140643"/>
                  <a:pt x="342900" y="149498"/>
                </a:cubicBezTo>
                <a:cubicBezTo>
                  <a:pt x="362024" y="159395"/>
                  <a:pt x="375047" y="179338"/>
                  <a:pt x="375047" y="202406"/>
                </a:cubicBezTo>
                <a:cubicBezTo>
                  <a:pt x="375047" y="221903"/>
                  <a:pt x="365671" y="239167"/>
                  <a:pt x="351234" y="250031"/>
                </a:cubicBezTo>
                <a:cubicBezTo>
                  <a:pt x="358676" y="260003"/>
                  <a:pt x="363141" y="272355"/>
                  <a:pt x="363141" y="285750"/>
                </a:cubicBezTo>
                <a:cubicBezTo>
                  <a:pt x="363141" y="318641"/>
                  <a:pt x="336500" y="345281"/>
                  <a:pt x="303609" y="345281"/>
                </a:cubicBezTo>
                <a:cubicBezTo>
                  <a:pt x="303088" y="345281"/>
                  <a:pt x="302642" y="345281"/>
                  <a:pt x="302121" y="345281"/>
                </a:cubicBezTo>
                <a:cubicBezTo>
                  <a:pt x="296838" y="365820"/>
                  <a:pt x="278160" y="381000"/>
                  <a:pt x="255984" y="381000"/>
                </a:cubicBezTo>
                <a:lnTo>
                  <a:pt x="232172" y="381000"/>
                </a:lnTo>
                <a:cubicBezTo>
                  <a:pt x="219001" y="381000"/>
                  <a:pt x="208359" y="370359"/>
                  <a:pt x="208359" y="357188"/>
                </a:cubicBezTo>
                <a:lnTo>
                  <a:pt x="208359" y="23812"/>
                </a:lnTo>
                <a:cubicBezTo>
                  <a:pt x="208359" y="10641"/>
                  <a:pt x="219001" y="0"/>
                  <a:pt x="232172" y="0"/>
                </a:cubicBezTo>
                <a:lnTo>
                  <a:pt x="250031" y="0"/>
                </a:lnTo>
                <a:cubicBezTo>
                  <a:pt x="273025" y="0"/>
                  <a:pt x="291703" y="18678"/>
                  <a:pt x="291703" y="41672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1"/>
          <p:cNvSpPr/>
          <p:nvPr/>
        </p:nvSpPr>
        <p:spPr>
          <a:xfrm>
            <a:off x="8509000" y="6985000"/>
            <a:ext cx="381000" cy="381000"/>
          </a:xfrm>
          <a:custGeom>
            <a:rect b="b" l="l" r="r" t="t"/>
            <a:pathLst>
              <a:path extrusionOk="0" h="381000" w="381000">
                <a:moveTo>
                  <a:pt x="374005" y="207318"/>
                </a:moveTo>
                <a:cubicBezTo>
                  <a:pt x="383307" y="198016"/>
                  <a:pt x="383307" y="182910"/>
                  <a:pt x="374005" y="173608"/>
                </a:cubicBezTo>
                <a:lnTo>
                  <a:pt x="254943" y="54546"/>
                </a:lnTo>
                <a:cubicBezTo>
                  <a:pt x="245641" y="45244"/>
                  <a:pt x="230535" y="45244"/>
                  <a:pt x="221233" y="54546"/>
                </a:cubicBezTo>
                <a:cubicBezTo>
                  <a:pt x="211931" y="63847"/>
                  <a:pt x="211931" y="78953"/>
                  <a:pt x="221233" y="88255"/>
                </a:cubicBezTo>
                <a:lnTo>
                  <a:pt x="299665" y="166688"/>
                </a:lnTo>
                <a:lnTo>
                  <a:pt x="23812" y="166688"/>
                </a:lnTo>
                <a:cubicBezTo>
                  <a:pt x="10641" y="166688"/>
                  <a:pt x="0" y="177329"/>
                  <a:pt x="0" y="190500"/>
                </a:cubicBezTo>
                <a:cubicBezTo>
                  <a:pt x="0" y="203671"/>
                  <a:pt x="10641" y="214313"/>
                  <a:pt x="23812" y="214313"/>
                </a:cubicBezTo>
                <a:lnTo>
                  <a:pt x="299665" y="214313"/>
                </a:lnTo>
                <a:lnTo>
                  <a:pt x="221233" y="292745"/>
                </a:lnTo>
                <a:cubicBezTo>
                  <a:pt x="211931" y="302047"/>
                  <a:pt x="211931" y="317153"/>
                  <a:pt x="221233" y="326454"/>
                </a:cubicBezTo>
                <a:cubicBezTo>
                  <a:pt x="230535" y="335756"/>
                  <a:pt x="245641" y="335756"/>
                  <a:pt x="254943" y="326454"/>
                </a:cubicBezTo>
                <a:lnTo>
                  <a:pt x="374005" y="207392"/>
                </a:lnTo>
                <a:close/>
              </a:path>
            </a:pathLst>
          </a:custGeom>
          <a:solidFill>
            <a:srgbClr val="6474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1"/>
          <p:cNvSpPr/>
          <p:nvPr/>
        </p:nvSpPr>
        <p:spPr>
          <a:xfrm>
            <a:off x="8977313" y="6985000"/>
            <a:ext cx="333375" cy="381000"/>
          </a:xfrm>
          <a:custGeom>
            <a:rect b="b" l="l" r="r" t="t"/>
            <a:pathLst>
              <a:path extrusionOk="0" h="381000" w="333375">
                <a:moveTo>
                  <a:pt x="166688" y="0"/>
                </a:moveTo>
                <a:cubicBezTo>
                  <a:pt x="153516" y="0"/>
                  <a:pt x="142875" y="10641"/>
                  <a:pt x="142875" y="23812"/>
                </a:cubicBezTo>
                <a:lnTo>
                  <a:pt x="142875" y="26194"/>
                </a:lnTo>
                <a:cubicBezTo>
                  <a:pt x="88553" y="37207"/>
                  <a:pt x="47625" y="85279"/>
                  <a:pt x="47625" y="142875"/>
                </a:cubicBezTo>
                <a:lnTo>
                  <a:pt x="47625" y="159023"/>
                </a:lnTo>
                <a:cubicBezTo>
                  <a:pt x="47625" y="194816"/>
                  <a:pt x="35421" y="229567"/>
                  <a:pt x="13097" y="257547"/>
                </a:cubicBezTo>
                <a:lnTo>
                  <a:pt x="5804" y="266626"/>
                </a:lnTo>
                <a:cubicBezTo>
                  <a:pt x="2009" y="271314"/>
                  <a:pt x="0" y="277118"/>
                  <a:pt x="0" y="283146"/>
                </a:cubicBezTo>
                <a:cubicBezTo>
                  <a:pt x="0" y="297731"/>
                  <a:pt x="11832" y="309563"/>
                  <a:pt x="26417" y="309563"/>
                </a:cubicBezTo>
                <a:lnTo>
                  <a:pt x="306884" y="309563"/>
                </a:lnTo>
                <a:cubicBezTo>
                  <a:pt x="321469" y="309563"/>
                  <a:pt x="333301" y="297731"/>
                  <a:pt x="333301" y="283146"/>
                </a:cubicBezTo>
                <a:cubicBezTo>
                  <a:pt x="333301" y="277118"/>
                  <a:pt x="331291" y="271314"/>
                  <a:pt x="327496" y="266626"/>
                </a:cubicBezTo>
                <a:lnTo>
                  <a:pt x="320204" y="257547"/>
                </a:lnTo>
                <a:cubicBezTo>
                  <a:pt x="297954" y="229567"/>
                  <a:pt x="285750" y="194816"/>
                  <a:pt x="285750" y="159023"/>
                </a:cubicBezTo>
                <a:lnTo>
                  <a:pt x="285750" y="142875"/>
                </a:lnTo>
                <a:cubicBezTo>
                  <a:pt x="285750" y="85279"/>
                  <a:pt x="244822" y="37207"/>
                  <a:pt x="190500" y="26194"/>
                </a:cubicBezTo>
                <a:lnTo>
                  <a:pt x="190500" y="23812"/>
                </a:lnTo>
                <a:cubicBezTo>
                  <a:pt x="190500" y="10641"/>
                  <a:pt x="179859" y="0"/>
                  <a:pt x="166688" y="0"/>
                </a:cubicBezTo>
                <a:close/>
                <a:moveTo>
                  <a:pt x="120551" y="345281"/>
                </a:moveTo>
                <a:cubicBezTo>
                  <a:pt x="125834" y="365820"/>
                  <a:pt x="144512" y="381000"/>
                  <a:pt x="166688" y="381000"/>
                </a:cubicBezTo>
                <a:cubicBezTo>
                  <a:pt x="188863" y="381000"/>
                  <a:pt x="207541" y="365820"/>
                  <a:pt x="212824" y="345281"/>
                </a:cubicBezTo>
                <a:lnTo>
                  <a:pt x="120551" y="345281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